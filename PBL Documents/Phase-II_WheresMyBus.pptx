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681e66e-0dcb-b6b5-fc81-b16a1446a18f}">
          <p14:sldIdLst>
            <p14:sldId id="256"/>
            <p14:sldId id="257"/>
            <p14:sldId id="258"/>
          </p14:sldIdLst>
        </p14:section>
        <p14:section name="Design" id="{9eb66894-5ad2-d578-1cfa-d823f8ca2688}">
          <p14:sldIdLst>
            <p14:sldId id="259"/>
            <p14:sldId id="260"/>
            <p14:sldId id="261"/>
            <p14:sldId id="262"/>
          </p14:sldIdLst>
        </p14:section>
        <p14:section name="Progress" id="{c6b8d832-0e5d-6b3f-d9c8-cdedc8b63fe7}">
          <p14:sldIdLst>
            <p14:sldId id="263"/>
            <p14:sldId id="264"/>
            <p14:sldId id="265"/>
            <p14:sldId id="266"/>
            <p14:sldId id="267"/>
          </p14:sldIdLst>
        </p14:section>
        <p14:section name="Plan" id="{56ac07a9-64b1-8927-fce0-7e52a2854b12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U_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0"/>
            <a:ext cx="1097280" cy="1097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3" name="Image 0" descr="/home/claude/build/graphice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521208"/>
            <a:ext cx="969264" cy="969264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22960" y="2331720"/>
            <a:ext cx="102412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22960" y="406908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U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274320"/>
            <a:ext cx="868680" cy="8686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3" name="Image 0" descr="/home/claude/build/graphice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68" y="338328"/>
            <a:ext cx="740664" cy="740664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100584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Department of Computer Science &amp; Engineering — Graphic Era (Deemed to be University)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bg2"/>
                </a:solidFill>
              </a:rPr>
              <a:t>PROJECT-BASED LEARNING  |  PHASE-II EVALUATION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22960" y="233172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Where’s My Bus: A Hardware Independent Bus Tracker</a:t>
            </a:r>
            <a:endParaRPr lang="en-US" sz="4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822960" y="40690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Team Null Pointer  —  Team ID: DSCPP-III-2026-T007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6692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Department of Computer Science &amp;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Graphic Era (Deemed to be University), Dehradun  |  Academic Session 2026–27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Team &amp; Mentor Details</a:t>
            </a:r>
            <a:endParaRPr lang="en-US" sz="3000" dirty="0"/>
          </a:p>
        </p:txBody>
      </p:sp>
      <p:sp>
        <p:nvSpPr>
          <p:cNvPr id="3" name="Team info card"/>
          <p:cNvSpPr/>
          <p:nvPr/>
        </p:nvSpPr>
        <p:spPr>
          <a:xfrm>
            <a:off x="548640" y="1371600"/>
            <a:ext cx="5394960" cy="29718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Team Information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Team ID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DSCPP-III-2026-T007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328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Team Name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25328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Null Pointer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626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Semester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29626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3rd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3924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Sections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33924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ML1, F, ML2, B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822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Domain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38221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Tech.</a:t>
            </a:r>
            <a:endParaRPr lang="en-US" sz="1600" dirty="0"/>
          </a:p>
        </p:txBody>
      </p:sp>
      <p:sp>
        <p:nvSpPr>
          <p:cNvPr id="15" name="Team members card"/>
          <p:cNvSpPr/>
          <p:nvPr/>
        </p:nvSpPr>
        <p:spPr>
          <a:xfrm>
            <a:off x="6245352" y="1371600"/>
            <a:ext cx="5394960" cy="29718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19672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Team Members</a:t>
            </a:r>
            <a:endParaRPr lang="en-US" sz="2000" dirty="0"/>
          </a:p>
        </p:txBody>
      </p:sp>
      <p:sp>
        <p:nvSpPr>
          <p:cNvPr id="17" name="Avatar DD"/>
          <p:cNvSpPr/>
          <p:nvPr/>
        </p:nvSpPr>
        <p:spPr>
          <a:xfrm>
            <a:off x="6519672" y="208483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208483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Devansh Dangwal (Team Lead)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 2510370109</a:t>
            </a:r>
            <a:endParaRPr lang="en-US" sz="1600" dirty="0"/>
          </a:p>
        </p:txBody>
      </p:sp>
      <p:sp>
        <p:nvSpPr>
          <p:cNvPr id="20" name="Avatar AG"/>
          <p:cNvSpPr/>
          <p:nvPr/>
        </p:nvSpPr>
        <p:spPr>
          <a:xfrm>
            <a:off x="6519672" y="26334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263347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Aryan Gusain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 2510012634</a:t>
            </a:r>
            <a:endParaRPr lang="en-US" sz="1600" dirty="0"/>
          </a:p>
        </p:txBody>
      </p:sp>
      <p:sp>
        <p:nvSpPr>
          <p:cNvPr id="23" name="Avatar VL"/>
          <p:cNvSpPr/>
          <p:nvPr/>
        </p:nvSpPr>
        <p:spPr>
          <a:xfrm>
            <a:off x="6519672" y="318211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19672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VL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318211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Vinayak Lakhera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 2510010715</a:t>
            </a:r>
            <a:endParaRPr lang="en-US" sz="1600" dirty="0"/>
          </a:p>
        </p:txBody>
      </p:sp>
      <p:sp>
        <p:nvSpPr>
          <p:cNvPr id="26" name="Avatar GS"/>
          <p:cNvSpPr/>
          <p:nvPr/>
        </p:nvSpPr>
        <p:spPr>
          <a:xfrm>
            <a:off x="6519672" y="373075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19672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373075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Gautam Singh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 2510012593</a:t>
            </a:r>
            <a:endParaRPr lang="en-US" sz="1600" dirty="0"/>
          </a:p>
        </p:txBody>
      </p:sp>
      <p:sp>
        <p:nvSpPr>
          <p:cNvPr id="29" name="Mentor card"/>
          <p:cNvSpPr/>
          <p:nvPr/>
        </p:nvSpPr>
        <p:spPr>
          <a:xfrm>
            <a:off x="548640" y="4663440"/>
            <a:ext cx="1109167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Mentor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257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Mr. Kanishka Bhatt</a:t>
            </a:r>
            <a:endParaRPr lang="en-US" sz="2400" dirty="0"/>
          </a:p>
        </p:txBody>
      </p:sp>
      <p:sp>
        <p:nvSpPr>
          <p:cNvPr id="32" name="Interactions stat"/>
          <p:cNvSpPr/>
          <p:nvPr/>
        </p:nvSpPr>
        <p:spPr>
          <a:xfrm>
            <a:off x="9646920" y="484632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46920" y="4846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</a:t>
            </a:r>
            <a:endParaRPr lang="en-US" sz="4000" dirty="0"/>
          </a:p>
        </p:txBody>
      </p:sp>
      <p:sp>
        <p:nvSpPr>
          <p:cNvPr id="34" name="Text 32"/>
          <p:cNvSpPr txBox="1"/>
          <p:nvPr/>
        </p:nvSpPr>
        <p:spPr>
          <a:xfrm>
            <a:off x="10744200" y="4846320"/>
            <a:ext cx="868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Interactions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completed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Problem Statement &amp; Finalized Objectives</a:t>
            </a:r>
            <a:endParaRPr lang="en-US" sz="3000" dirty="0"/>
          </a:p>
        </p:txBody>
      </p:sp>
      <p:sp>
        <p:nvSpPr>
          <p:cNvPr id="3" name="Problem statement card"/>
          <p:cNvSpPr/>
          <p:nvPr/>
        </p:nvSpPr>
        <p:spPr>
          <a:xfrm>
            <a:off x="548640" y="1371600"/>
            <a:ext cx="1109167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Problem Statement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Colleges with fixed bus routes give students no easy way to know whether their bus is late, full, or out of service. </a:t>
            </a:r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Where’s My Bus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gives every student a live colour status for each bus at their own stop, without GPS hardware or paid APIs.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Finalized Objectives</a:t>
            </a:r>
            <a:endParaRPr lang="en-US" sz="2000" dirty="0"/>
          </a:p>
        </p:txBody>
      </p:sp>
      <p:sp>
        <p:nvSpPr>
          <p:cNvPr id="7" name="Number 1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4747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Show a colour-coded status for every bus at the student’s chosen stop, with no login required.</a:t>
            </a:r>
            <a:endParaRPr lang="en-US" sz="1800" dirty="0"/>
          </a:p>
        </p:txBody>
      </p:sp>
      <p:sp>
        <p:nvSpPr>
          <p:cNvPr id="10" name="Number 2"/>
          <p:cNvSpPr/>
          <p:nvPr/>
        </p:nvSpPr>
        <p:spPr>
          <a:xfrm>
            <a:off x="548640" y="4178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13308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Let the conductor update the bus position with one action at each stop.</a:t>
            </a:r>
            <a:endParaRPr lang="en-US" sz="1800" dirty="0"/>
          </a:p>
        </p:txBody>
      </p:sp>
      <p:sp>
        <p:nvSpPr>
          <p:cNvPr id="13" name="Number 3"/>
          <p:cNvSpPr/>
          <p:nvPr/>
        </p:nvSpPr>
        <p:spPr>
          <a:xfrm>
            <a:off x="548640" y="48371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79145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Give the Head of Department (HOD) a summary report of all buses and recent updates.</a:t>
            </a:r>
            <a:endParaRPr lang="en-US" sz="1800" dirty="0"/>
          </a:p>
        </p:txBody>
      </p:sp>
      <p:sp>
        <p:nvSpPr>
          <p:cNvPr id="16" name="Number 4"/>
          <p:cNvSpPr/>
          <p:nvPr/>
        </p:nvSpPr>
        <p:spPr>
          <a:xfrm>
            <a:off x="548640" y="54955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495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44982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Stay hardware independent and low cost: all routes, stops, buses and ETAs come from MySQL, built on hand-written data structures.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Updated System Architecture / Workflow</a:t>
            </a:r>
            <a:endParaRPr lang="en-US" sz="3000" dirty="0"/>
          </a:p>
        </p:txBody>
      </p:sp>
      <p:sp>
        <p:nvSpPr>
          <p:cNvPr id="3" name="Flow box 1"/>
          <p:cNvSpPr/>
          <p:nvPr/>
        </p:nvSpPr>
        <p:spPr>
          <a:xfrm>
            <a:off x="548640" y="1417320"/>
            <a:ext cx="182880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MySQL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Database</a:t>
            </a:r>
            <a:endParaRPr lang="en-US" sz="1400" dirty="0"/>
          </a:p>
        </p:txBody>
      </p:sp>
      <p:sp>
        <p:nvSpPr>
          <p:cNvPr id="5" name="Flow arrow 1"/>
          <p:cNvSpPr/>
          <p:nvPr/>
        </p:nvSpPr>
        <p:spPr>
          <a:xfrm>
            <a:off x="2423160" y="1828800"/>
            <a:ext cx="3931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Flow box 2"/>
          <p:cNvSpPr/>
          <p:nvPr/>
        </p:nvSpPr>
        <p:spPr>
          <a:xfrm>
            <a:off x="2862072" y="1417320"/>
            <a:ext cx="182880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62072" y="1417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Classes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Data Structures</a:t>
            </a:r>
            <a:endParaRPr lang="en-US" sz="1400" dirty="0"/>
          </a:p>
        </p:txBody>
      </p:sp>
      <p:sp>
        <p:nvSpPr>
          <p:cNvPr id="8" name="Flow arrow 2"/>
          <p:cNvSpPr/>
          <p:nvPr/>
        </p:nvSpPr>
        <p:spPr>
          <a:xfrm>
            <a:off x="4736592" y="1828800"/>
            <a:ext cx="3931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Flow box 3"/>
          <p:cNvSpPr/>
          <p:nvPr/>
        </p:nvSpPr>
        <p:spPr>
          <a:xfrm>
            <a:off x="5175504" y="1417320"/>
            <a:ext cx="182880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75504" y="1417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Status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Engine</a:t>
            </a:r>
            <a:endParaRPr lang="en-US" sz="1400" dirty="0"/>
          </a:p>
        </p:txBody>
      </p:sp>
      <p:sp>
        <p:nvSpPr>
          <p:cNvPr id="11" name="Flow arrow 3"/>
          <p:cNvSpPr/>
          <p:nvPr/>
        </p:nvSpPr>
        <p:spPr>
          <a:xfrm>
            <a:off x="7050024" y="1828800"/>
            <a:ext cx="3931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Flow box 4"/>
          <p:cNvSpPr/>
          <p:nvPr/>
        </p:nvSpPr>
        <p:spPr>
          <a:xfrm>
            <a:off x="7488936" y="1417320"/>
            <a:ext cx="182880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88936" y="1417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HTML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Pages</a:t>
            </a:r>
            <a:endParaRPr lang="en-US" sz="1400" dirty="0"/>
          </a:p>
        </p:txBody>
      </p:sp>
      <p:sp>
        <p:nvSpPr>
          <p:cNvPr id="14" name="Flow arrow 4"/>
          <p:cNvSpPr/>
          <p:nvPr/>
        </p:nvSpPr>
        <p:spPr>
          <a:xfrm>
            <a:off x="9363456" y="1828800"/>
            <a:ext cx="3931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Flow box 5"/>
          <p:cNvSpPr/>
          <p:nvPr/>
        </p:nvSpPr>
        <p:spPr>
          <a:xfrm>
            <a:off x="9802368" y="1417320"/>
            <a:ext cx="182880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02368" y="1417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Browser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(2 s refresh)</a:t>
            </a:r>
            <a:endParaRPr lang="en-US" sz="1400" dirty="0"/>
          </a:p>
        </p:txBody>
      </p:sp>
      <p:sp>
        <p:nvSpPr>
          <p:cNvPr id="17" name="Conductor arrow"/>
          <p:cNvSpPr/>
          <p:nvPr/>
        </p:nvSpPr>
        <p:spPr>
          <a:xfrm flipV="1">
            <a:off x="6089904" y="2313432"/>
            <a:ext cx="0" cy="338328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headEnd type="none"/>
            <a:tailEnd type="triangle"/>
          </a:ln>
        </p:spPr>
      </p:sp>
      <p:sp>
        <p:nvSpPr>
          <p:cNvPr id="18" name="Conductor box"/>
          <p:cNvSpPr/>
          <p:nvPr/>
        </p:nvSpPr>
        <p:spPr>
          <a:xfrm>
            <a:off x="5175504" y="2697480"/>
            <a:ext cx="182880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75504" y="2697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Conductor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Update Queue</a:t>
            </a:r>
            <a:endParaRPr lang="en-US" sz="1400" dirty="0"/>
          </a:p>
        </p:txBody>
      </p:sp>
      <p:sp>
        <p:nvSpPr>
          <p:cNvPr id="20" name="Components card"/>
          <p:cNvSpPr/>
          <p:nvPr/>
        </p:nvSpPr>
        <p:spPr>
          <a:xfrm>
            <a:off x="548640" y="3611880"/>
            <a:ext cx="5440680" cy="26060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Major Components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160520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Database: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stops, routes, order, buses, ETAs (MySQL)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Classes &amp; data structures: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route = linked list; hash tables; queue and stack for updates; heap for sorting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Status engine: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moves bus along route, sets colour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Display: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C++ writes the HTML pages</a:t>
            </a:r>
            <a:endParaRPr lang="en-US" sz="1700" dirty="0"/>
          </a:p>
        </p:txBody>
      </p:sp>
      <p:sp>
        <p:nvSpPr>
          <p:cNvPr id="23" name="Design decisions card"/>
          <p:cNvSpPr/>
          <p:nvPr/>
        </p:nvSpPr>
        <p:spPr>
          <a:xfrm>
            <a:off x="6199632" y="3611880"/>
            <a:ext cx="5440680" cy="26060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28232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Phase-II Design Decisions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428232" y="4160520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layer talks only to the next; nothing is hard-coded, all data loads from MySQL at start-up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C++ runs the MySQL command-line client in the background and reads its output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Colours are computed live and never stored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Pages are written to a temp file, then moved, so the browser never sees a half-written page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Module Design &amp; Functional Requirements</a:t>
            </a:r>
            <a:endParaRPr lang="en-US" sz="3000" dirty="0"/>
          </a:p>
        </p:txBody>
      </p:sp>
      <p:sp>
        <p:nvSpPr>
          <p:cNvPr id="3" name="Modules card"/>
          <p:cNvSpPr/>
          <p:nvPr/>
        </p:nvSpPr>
        <p:spPr>
          <a:xfrm>
            <a:off x="548640" y="1371600"/>
            <a:ext cx="544068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Major Modules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4983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Database &amp; loader (25 stops, 3 routes, 14 buses)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Core classes &amp; data structures (Stop, Route, Bus, Update, users)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Status engine (movement, colours, undo/redo, trip completion)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Interfaces (terminal menu, student and HOD pages)</a:t>
            </a:r>
            <a:endParaRPr lang="en-US" sz="1800" dirty="0"/>
          </a:p>
        </p:txBody>
      </p:sp>
      <p:sp>
        <p:nvSpPr>
          <p:cNvPr id="6" name="Requirements card"/>
          <p:cNvSpPr/>
          <p:nvPr/>
        </p:nvSpPr>
        <p:spPr>
          <a:xfrm>
            <a:off x="6199632" y="1371600"/>
            <a:ext cx="544068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28232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Functional Requirements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28232" y="1920240"/>
            <a:ext cx="4983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Student views bus colour at a chosen stop without logging in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Conductor logs in, starts a shift, marks next stop reached, marks seats full or maintenance, and can undo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HOD gets a report of buses and recent updates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Pages refresh every two seconds so changes appear immediately</a:t>
            </a:r>
            <a:endParaRPr lang="en-US" sz="1700" dirty="0"/>
          </a:p>
        </p:txBody>
      </p:sp>
      <p:sp>
        <p:nvSpPr>
          <p:cNvPr id="9" name="Dependency card"/>
          <p:cNvSpPr/>
          <p:nvPr/>
        </p:nvSpPr>
        <p:spPr>
          <a:xfrm>
            <a:off x="548640" y="4754880"/>
            <a:ext cx="11091672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Module Dependency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25780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Interfaces → status engine → core classes → database (loaded at start-up). Conductor updates enter a queue, are validated, then go onto the history stack used for undo.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Technology Stack &amp; Development Methodology</a:t>
            </a:r>
            <a:endParaRPr lang="en-US" sz="3000" dirty="0"/>
          </a:p>
        </p:txBody>
      </p:sp>
      <p:sp>
        <p:nvSpPr>
          <p:cNvPr id="3" name="Tech stack card"/>
          <p:cNvSpPr/>
          <p:nvPr/>
        </p:nvSpPr>
        <p:spPr>
          <a:xfrm>
            <a:off x="548640" y="1371600"/>
            <a:ext cx="5440680" cy="4206240"/>
          </a:xfrm>
          <a:prstGeom prst="roundRect">
            <a:avLst>
              <a:gd name="adj" fmla="val 217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Technology Stack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Programming: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C++ (with STL)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Database: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MySQL 8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Framework: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none (plain HTML/CSS pages)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Development Tool: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g++ (Windows build file)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Version Control: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Git / GitHub</a:t>
            </a:r>
            <a:endParaRPr lang="en-US" sz="2200" dirty="0"/>
          </a:p>
        </p:txBody>
      </p:sp>
      <p:sp>
        <p:nvSpPr>
          <p:cNvPr id="6" name="Methodology card"/>
          <p:cNvSpPr/>
          <p:nvPr/>
        </p:nvSpPr>
        <p:spPr>
          <a:xfrm>
            <a:off x="6199632" y="1371600"/>
            <a:ext cx="5440680" cy="4206240"/>
          </a:xfrm>
          <a:prstGeom prst="roundRect">
            <a:avLst>
              <a:gd name="adj" fmla="val 217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28232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Development Methodology</a:t>
            </a:r>
            <a:endParaRPr lang="en-US" sz="2000" dirty="0"/>
          </a:p>
        </p:txBody>
      </p:sp>
      <p:sp>
        <p:nvSpPr>
          <p:cNvPr id="8" name="Number 1"/>
          <p:cNvSpPr/>
          <p:nvPr/>
        </p:nvSpPr>
        <p:spPr>
          <a:xfrm>
            <a:off x="6428232" y="2103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2823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2103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Requirement Analysis</a:t>
            </a:r>
            <a:endParaRPr lang="en-US" sz="2200" dirty="0"/>
          </a:p>
        </p:txBody>
      </p:sp>
      <p:sp>
        <p:nvSpPr>
          <p:cNvPr id="11" name="Number 2"/>
          <p:cNvSpPr/>
          <p:nvPr/>
        </p:nvSpPr>
        <p:spPr>
          <a:xfrm>
            <a:off x="6428232" y="27614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28232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7614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System Design</a:t>
            </a:r>
            <a:endParaRPr lang="en-US" sz="2200" dirty="0"/>
          </a:p>
        </p:txBody>
      </p:sp>
      <p:sp>
        <p:nvSpPr>
          <p:cNvPr id="14" name="Number 3"/>
          <p:cNvSpPr/>
          <p:nvPr/>
        </p:nvSpPr>
        <p:spPr>
          <a:xfrm>
            <a:off x="6428232" y="34198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28232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34198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Module Development</a:t>
            </a:r>
            <a:endParaRPr lang="en-US" sz="2200" dirty="0"/>
          </a:p>
        </p:txBody>
      </p:sp>
      <p:sp>
        <p:nvSpPr>
          <p:cNvPr id="17" name="Number 4"/>
          <p:cNvSpPr/>
          <p:nvPr/>
        </p:nvSpPr>
        <p:spPr>
          <a:xfrm>
            <a:off x="6428232" y="407822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28232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40782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Integration</a:t>
            </a:r>
            <a:endParaRPr lang="en-US" sz="2200" dirty="0"/>
          </a:p>
        </p:txBody>
      </p:sp>
      <p:sp>
        <p:nvSpPr>
          <p:cNvPr id="20" name="Number 5"/>
          <p:cNvSpPr/>
          <p:nvPr/>
        </p:nvSpPr>
        <p:spPr>
          <a:xfrm>
            <a:off x="6428232" y="473659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28232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7365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Testing &amp; Validation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Implementation of PBL Course Concepts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309360"/>
                <a:gridCol w="25877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Course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Concepts Actually Implemented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Project Module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Data Structures in 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Singly linked list (route as ordered stops), queue (conductor updates), stack (update history and undo/redo), binary heap (bus sorting), hash table (bus and route lookup)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Core classes, status engine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OOPs with C++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Classes, inheritance (User → Student / Conductor / HOD), class templates (Queue, Stack, Heap), STL, single-owner object management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User classes, registries, data structures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Operating Systems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 creation: MySQL command-line client run from C++ as a background process, with its output read back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Database connection layer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DBMS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SQL schema for stops, routes, stop order, buses and ETAs; custom SQL query to get correct ETAs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Database, data loader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Development &amp; Implementation Progress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624535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Module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Work Completed / Planned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Database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Completed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 stops, 3 routes, 14 buses and ETAs between stops (can be extended)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C++–MySQL link &amp; import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Completed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Connection through the MySQL client; all data loaded at start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Core classes &amp; data structures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Completed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Stop, Route, Bus, Update, user classes, queue, stack, heap, hash tables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Status engine (drop trip)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Completed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Bus movement, colours, trip completion, undo and redo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Student &amp; HOD pages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Completed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HTML/CSS pages with 2-second auto refresh (drop trip only)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Conductor terminal menu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Completed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Start shift, next stop, seats, maintenance, undo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Pickup, ETA, dashboard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Doubly linked list for return leg; ETA; web dashboard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ompletion stat"/>
          <p:cNvSpPr/>
          <p:nvPr/>
        </p:nvSpPr>
        <p:spPr>
          <a:xfrm>
            <a:off x="548640" y="4846320"/>
            <a:ext cx="32918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48920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70%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715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Overall Project Completion</a:t>
            </a:r>
            <a:endParaRPr lang="en-US" sz="1400" dirty="0"/>
          </a:p>
        </p:txBody>
      </p:sp>
      <p:sp>
        <p:nvSpPr>
          <p:cNvPr id="7" name="Schedule card"/>
          <p:cNvSpPr/>
          <p:nvPr/>
        </p:nvSpPr>
        <p:spPr>
          <a:xfrm>
            <a:off x="4069080" y="4846320"/>
            <a:ext cx="757123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343400" y="4937760"/>
            <a:ext cx="7040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4"/>
                </a:solidFill>
              </a:rPr>
              <a:t>On schedule: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drop-trip demo.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Behind: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pickup tracking, ETA, dashboard, manual, report.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Working Prototype / Demonstration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Implemented Features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Live colour status of every bus at a selected stop (drop trips)</a:t>
            </a:r>
            <a:endParaRPr lang="en-US" sz="2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Conductor menu: start shift, reach next stop, seat full, maintenance, undo</a:t>
            </a:r>
            <a:endParaRPr lang="en-US" sz="2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HOD report with bus numbers and recent updates</a:t>
            </a:r>
            <a:endParaRPr lang="en-US" sz="2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Student and HOD pages refresh automatically</a:t>
            </a:r>
            <a:endParaRPr lang="en-US" sz="2100" dirty="0"/>
          </a:p>
        </p:txBody>
      </p:sp>
      <p:sp>
        <p:nvSpPr>
          <p:cNvPr id="5" name="Legend card"/>
          <p:cNvSpPr/>
          <p:nvPr/>
        </p:nvSpPr>
        <p:spPr>
          <a:xfrm>
            <a:off x="6199632" y="1371600"/>
            <a:ext cx="5440680" cy="448056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28232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Prototype / Output: status colours</a:t>
            </a:r>
            <a:endParaRPr lang="en-US" sz="2000" dirty="0"/>
          </a:p>
        </p:txBody>
      </p:sp>
      <p:sp>
        <p:nvSpPr>
          <p:cNvPr id="7" name="Swatch Seats empty"/>
          <p:cNvSpPr/>
          <p:nvPr/>
        </p:nvSpPr>
        <p:spPr>
          <a:xfrm>
            <a:off x="6428232" y="21945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205472" y="2194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Seats empty</a:t>
            </a:r>
            <a:endParaRPr lang="en-US" sz="1800" dirty="0"/>
          </a:p>
        </p:txBody>
      </p:sp>
      <p:sp>
        <p:nvSpPr>
          <p:cNvPr id="9" name="Swatch Bus passed stop"/>
          <p:cNvSpPr/>
          <p:nvPr/>
        </p:nvSpPr>
        <p:spPr>
          <a:xfrm>
            <a:off x="9034272" y="21945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C628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811512" y="2194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Bus passed stop</a:t>
            </a:r>
            <a:endParaRPr lang="en-US" sz="1800" dirty="0"/>
          </a:p>
        </p:txBody>
      </p:sp>
      <p:sp>
        <p:nvSpPr>
          <p:cNvPr id="11" name="Swatch Bus full"/>
          <p:cNvSpPr/>
          <p:nvPr/>
        </p:nvSpPr>
        <p:spPr>
          <a:xfrm>
            <a:off x="6428232" y="32918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05472" y="3291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Bus full</a:t>
            </a:r>
            <a:endParaRPr lang="en-US" sz="1800" dirty="0"/>
          </a:p>
        </p:txBody>
      </p:sp>
      <p:sp>
        <p:nvSpPr>
          <p:cNvPr id="13" name="Swatch Resting"/>
          <p:cNvSpPr/>
          <p:nvPr/>
        </p:nvSpPr>
        <p:spPr>
          <a:xfrm>
            <a:off x="9034272" y="32918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8D55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811512" y="3291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Resting</a:t>
            </a:r>
            <a:endParaRPr lang="en-US" sz="1800" dirty="0"/>
          </a:p>
        </p:txBody>
      </p:sp>
      <p:sp>
        <p:nvSpPr>
          <p:cNvPr id="15" name="Swatch Maintenance"/>
          <p:cNvSpPr/>
          <p:nvPr/>
        </p:nvSpPr>
        <p:spPr>
          <a:xfrm>
            <a:off x="6428232" y="43891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A1B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05472" y="4389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Maintenance</a:t>
            </a:r>
            <a:endParaRPr lang="en-US" sz="1800" dirty="0"/>
          </a:p>
        </p:txBody>
      </p:sp>
      <p:sp>
        <p:nvSpPr>
          <p:cNvPr id="17" name="Swatch Not available"/>
          <p:cNvSpPr/>
          <p:nvPr/>
        </p:nvSpPr>
        <p:spPr>
          <a:xfrm>
            <a:off x="9034272" y="43891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811512" y="4389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Not available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28232" y="5349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Colours are computed live at the selected stop and never stored.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Testing, Results &amp; Validation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291840"/>
                <a:gridCol w="3474720"/>
                <a:gridCol w="9418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Test / Module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Expected Result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Observed Result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Compilation check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warnings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warnings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check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leaks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memory leak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Loading from MySQL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All routes and buses loaded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routes, 14 buses loaded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Conductor operations (drop trip)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All shift operations work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All performed successfully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Student page colours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Colours match bus state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Colours matched expected values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HOD report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Report shows completed trip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Shows the successful trip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 structures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Heap order, list integrity, undo correct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All checks passed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Error messages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Clear error messages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Wrong password, missing config, bad database shown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Pickup tracking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Bus returns from rest stop to Graphic Era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Bus cannot return (forward-only list)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Fail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Results card"/>
          <p:cNvSpPr/>
          <p:nvPr/>
        </p:nvSpPr>
        <p:spPr>
          <a:xfrm>
            <a:off x="548640" y="544068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5440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Results: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8 of 9 test groups pass. The one failure, pickup tracking, comes from the forward-only route linked list and will be fixed with a doubly linked list.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GitHub Repository &amp; Development Activity</a:t>
            </a:r>
            <a:endParaRPr lang="en-US" sz="3000" dirty="0"/>
          </a:p>
        </p:txBody>
      </p:sp>
      <p:sp>
        <p:nvSpPr>
          <p:cNvPr id="3" name="Repository card"/>
          <p:cNvSpPr/>
          <p:nvPr/>
        </p:nvSpPr>
        <p:spPr>
          <a:xfrm>
            <a:off x="548640" y="1371600"/>
            <a:ext cx="5760720" cy="393192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Repository Information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GitHub Link: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github.com/Nickyyayy/WheresMyBus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README.md: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updated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Branches: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main, plus one branch per member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Folders: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backend (C++), frontend (CSS), sql, output (generated pages)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Security: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database password kept in a separate config file, not uploaded</a:t>
            </a:r>
            <a:endParaRPr lang="en-US" sz="1800" dirty="0"/>
          </a:p>
        </p:txBody>
      </p:sp>
      <p:sp>
        <p:nvSpPr>
          <p:cNvPr id="6" name="Commits card"/>
          <p:cNvSpPr/>
          <p:nvPr/>
        </p:nvSpPr>
        <p:spPr>
          <a:xfrm>
            <a:off x="6519672" y="1371600"/>
            <a:ext cx="5120640" cy="393192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48272" y="1463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Important Commits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748272" y="20116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e9452e9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20116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HEAD, main: registries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748272" y="27889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4250780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7889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data structures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748272" y="3566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c012719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35661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folder structure, Windows build file, SQL load and config, core classes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748272" y="43434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a3cee68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43434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MySQL database and README update</a:t>
            </a:r>
            <a:endParaRPr lang="en-US" sz="1700" dirty="0"/>
          </a:p>
        </p:txBody>
      </p:sp>
      <p:sp>
        <p:nvSpPr>
          <p:cNvPr id="16" name="Commit share card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532120"/>
            <a:ext cx="10561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Individual commit share: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total commits / 4 members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Individual Contribution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5879592"/>
                <a:gridCol w="10058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Member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Technical Contribution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GitHub Commits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Devansh Dangwal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Team Lead, core logic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Stop, Route (linked list), Bus and Update classes; status engine with bus movement, colours, trip completion, undo and redo; slides and report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Aryan Gusain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Interface &amp; integration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Conductor/HOD terminal menu, configuration and main program; HTML/CSS pages; frontend–backend connection; slides and report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Vinayak Lakhera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Database &amp; data layer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MySQL database (25 stops, 3 routes, 14 buses, ETAs); C++–MySQL connection and import; User, Student, Conductor, HOD classes; hash tables; route validation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Gautam Singh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 structures &amp; pages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Queue, Stack and Binary heap template classes and bus sorting; student and HOD HTML/CSS pages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Challenges, Remaining Work &amp; Phase-III Roadmap</a:t>
            </a:r>
            <a:endParaRPr lang="en-US" sz="3000" dirty="0"/>
          </a:p>
        </p:txBody>
      </p:sp>
      <p:sp>
        <p:nvSpPr>
          <p:cNvPr id="3" name="Challenges card"/>
          <p:cNvSpPr/>
          <p:nvPr/>
        </p:nvSpPr>
        <p:spPr>
          <a:xfrm>
            <a:off x="548640" y="1371600"/>
            <a:ext cx="6675120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Challenges &amp; Solutions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62179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Graphic Era is first and last stop → track by stop order number, not name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ETA view wrong for last record → own query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C++–MySQL libraries failed on Windows → run the MySQL client from C++; quote paths with spaces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Browser loaded half-written pages → temp file, then move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Pointer/memory bugs → one owner per object, memory-checker tests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One shared undo stack → pop other buses’ newer updates, undo ours, push them back in order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Pickup fails (forward-only route list) → doubly linked list planned</a:t>
            </a:r>
            <a:endParaRPr lang="en-US" sz="1700" dirty="0"/>
          </a:p>
        </p:txBody>
      </p:sp>
      <p:sp>
        <p:nvSpPr>
          <p:cNvPr id="6" name="Roadmap card"/>
          <p:cNvSpPr/>
          <p:nvPr/>
        </p:nvSpPr>
        <p:spPr>
          <a:xfrm>
            <a:off x="7434072" y="1371600"/>
            <a:ext cx="4206240" cy="4846320"/>
          </a:xfrm>
          <a:prstGeom prst="roundRect">
            <a:avLst>
              <a:gd name="adj" fmla="val 217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62672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Phase-III Roadmap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662672" y="1965960"/>
            <a:ext cx="37490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Pickup tracking with a doubly linked list (Devansh, Vinayak)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Conductor web dashboard (Gautam, Aryan); ETA calculation (Devansh)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Larger database: more routes, stops and buses (Vinayak)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More tests: missed bus, resting bus, wrong updates; test on the demo laptop; code review (all)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User manual with screenshots, final report and final presentation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Expected Outcomes &amp; References</a:t>
            </a:r>
            <a:endParaRPr lang="en-US" sz="3000" dirty="0"/>
          </a:p>
        </p:txBody>
      </p:sp>
      <p:sp>
        <p:nvSpPr>
          <p:cNvPr id="3" name="Outcomes card"/>
          <p:cNvSpPr/>
          <p:nvPr/>
        </p:nvSpPr>
        <p:spPr>
          <a:xfrm>
            <a:off x="548640" y="1371600"/>
            <a:ext cx="5577840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Expected Final Outcomes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Working tracker for both drop and pickup trips, with conductor web dashboard and ETAs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Source code, SQL files, user manual, final report and demo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Cost-effective college bus tracking with no GPS hardware or paid API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Easily extended: more routes, stops and buses can be added through the database</a:t>
            </a:r>
            <a:endParaRPr lang="en-US" sz="2000" dirty="0"/>
          </a:p>
        </p:txBody>
      </p:sp>
      <p:sp>
        <p:nvSpPr>
          <p:cNvPr id="6" name="References card"/>
          <p:cNvSpPr/>
          <p:nvPr/>
        </p:nvSpPr>
        <p:spPr>
          <a:xfrm>
            <a:off x="6336792" y="1371600"/>
            <a:ext cx="530352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65392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References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65392" y="19659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MySQL 8.0 Reference Manual, dev.mysql.com/doc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C++ Standard Library reference, cppreference.com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Project repository: github.com/Nickyyayy/WheresMyBus</a:t>
            </a:r>
            <a:endParaRPr lang="en-US" sz="1700" dirty="0"/>
          </a:p>
        </p:txBody>
      </p:sp>
      <p:sp>
        <p:nvSpPr>
          <p:cNvPr id="9" name="Thank you card"/>
          <p:cNvSpPr/>
          <p:nvPr/>
        </p:nvSpPr>
        <p:spPr>
          <a:xfrm>
            <a:off x="6336792" y="4343400"/>
            <a:ext cx="5303520" cy="1874520"/>
          </a:xfrm>
          <a:prstGeom prst="roundRect">
            <a:avLst>
              <a:gd name="adj" fmla="val 4878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36792" y="45262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Thank You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53492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Questions &amp; Suggestions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phic Era Phase-II">
  <a:themeElements>
    <a:clrScheme name="Graphic Era Phase-II">
      <a:dk1>
        <a:srgbClr val="1A1F2B"/>
      </a:dk1>
      <a:lt1>
        <a:srgbClr val="FFFFFF"/>
      </a:lt1>
      <a:dk2>
        <a:srgbClr val="143769"/>
      </a:dk2>
      <a:lt2>
        <a:srgbClr val="EEF4FB"/>
      </a:lt2>
      <a:accent1>
        <a:srgbClr val="143769"/>
      </a:accent1>
      <a:accent2>
        <a:srgbClr val="C8102E"/>
      </a:accent2>
      <a:accent3>
        <a:srgbClr val="F2A900"/>
      </a:accent3>
      <a:accent4>
        <a:srgbClr val="2E7D32"/>
      </a:accent4>
      <a:accent5>
        <a:srgbClr val="5A5A5A"/>
      </a:accent5>
      <a:accent6>
        <a:srgbClr val="1C7293"/>
      </a:accent6>
      <a:hlink>
        <a:srgbClr val="143769"/>
      </a:hlink>
      <a:folHlink>
        <a:srgbClr val="5A5A5A"/>
      </a:folHlink>
    </a:clrScheme>
    <a:fontScheme name="Graphic Era Phase-I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Where's My Bus - Phase-II Evaluation</dc:title>
  <dc:subject>PptxGenJS Presentation</dc:subject>
  <dc:creator>Team Null Pointer</dc:creator>
  <cp:lastModifiedBy>Team Null Pointer</cp:lastModifiedBy>
  <cp:revision>1</cp:revision>
  <dcterms:created xsi:type="dcterms:W3CDTF">2026-10-17T03:26:21Z</dcterms:created>
  <dcterms:modified xsi:type="dcterms:W3CDTF">2026-10-17T03:26:21Z</dcterms:modified>
</cp:coreProperties>
</file>