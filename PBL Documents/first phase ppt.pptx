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60" d="100"/>
          <a:sy n="160" d="100"/>
        </p:scale>
        <p:origin x="922" y="9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21894" y="914664"/>
            <a:ext cx="2392045" cy="1882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399392" y="72605"/>
            <a:ext cx="223202" cy="22320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7294" y="302841"/>
            <a:ext cx="378587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7294" y="911609"/>
            <a:ext cx="2372995" cy="180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5300" y="3133522"/>
            <a:ext cx="311531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13376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7802" y="3133522"/>
            <a:ext cx="227636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0E294E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0" y="-1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60073" y="0"/>
                </a:lnTo>
              </a:path>
            </a:pathLst>
          </a:custGeom>
          <a:ln w="37958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89334" y="174758"/>
            <a:ext cx="359949" cy="35994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42378" y="855699"/>
            <a:ext cx="4474845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spc="60" dirty="0"/>
              <a:t>PROJECT-</a:t>
            </a:r>
            <a:r>
              <a:rPr sz="2450" spc="65" dirty="0"/>
              <a:t>BASED</a:t>
            </a:r>
            <a:r>
              <a:rPr sz="2450" spc="-345" dirty="0"/>
              <a:t> </a:t>
            </a:r>
            <a:r>
              <a:rPr sz="2450" spc="-10" dirty="0"/>
              <a:t>LEARNING</a:t>
            </a:r>
            <a:endParaRPr sz="2450" dirty="0"/>
          </a:p>
        </p:txBody>
      </p:sp>
      <p:sp>
        <p:nvSpPr>
          <p:cNvPr id="5" name="object 5"/>
          <p:cNvSpPr txBox="1"/>
          <p:nvPr/>
        </p:nvSpPr>
        <p:spPr>
          <a:xfrm>
            <a:off x="1834907" y="1295436"/>
            <a:ext cx="2089785" cy="90424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1700" dirty="0">
                <a:latin typeface="Trebuchet MS"/>
                <a:cs typeface="Trebuchet MS"/>
              </a:rPr>
              <a:t>PHASE-I</a:t>
            </a:r>
            <a:r>
              <a:rPr sz="1700" spc="2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EVALUATION</a:t>
            </a:r>
            <a:endParaRPr sz="170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600"/>
              </a:spcBef>
            </a:pPr>
            <a:r>
              <a:rPr sz="1400" b="1" spc="-75" dirty="0">
                <a:solidFill>
                  <a:srgbClr val="595959"/>
                </a:solidFill>
                <a:latin typeface="Tahoma"/>
                <a:cs typeface="Tahoma"/>
              </a:rPr>
              <a:t>Where’s</a:t>
            </a:r>
            <a:r>
              <a:rPr sz="1400" b="1" spc="1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595959"/>
                </a:solidFill>
                <a:latin typeface="Tahoma"/>
                <a:cs typeface="Tahoma"/>
              </a:rPr>
              <a:t>My</a:t>
            </a:r>
            <a:r>
              <a:rPr sz="1400" b="1" spc="1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25" dirty="0">
                <a:solidFill>
                  <a:srgbClr val="595959"/>
                </a:solidFill>
                <a:latin typeface="Tahoma"/>
                <a:cs typeface="Tahoma"/>
              </a:rPr>
              <a:t>Bus</a:t>
            </a:r>
            <a:endParaRPr sz="14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259"/>
              </a:spcBef>
            </a:pPr>
            <a:r>
              <a:rPr sz="1100" spc="-30" dirty="0">
                <a:solidFill>
                  <a:srgbClr val="133768"/>
                </a:solidFill>
                <a:latin typeface="Tahoma"/>
                <a:cs typeface="Tahoma"/>
              </a:rPr>
              <a:t>Team</a:t>
            </a:r>
            <a:r>
              <a:rPr sz="1100" spc="20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33768"/>
                </a:solidFill>
                <a:latin typeface="Tahoma"/>
                <a:cs typeface="Tahoma"/>
              </a:rPr>
              <a:t>ID:</a:t>
            </a:r>
            <a:r>
              <a:rPr sz="1100" spc="20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33768"/>
                </a:solidFill>
                <a:latin typeface="Tahoma"/>
                <a:cs typeface="Tahoma"/>
              </a:rPr>
              <a:t>DSCPP-</a:t>
            </a:r>
            <a:r>
              <a:rPr sz="1100" spc="-35" dirty="0">
                <a:solidFill>
                  <a:srgbClr val="133768"/>
                </a:solidFill>
                <a:latin typeface="Tahoma"/>
                <a:cs typeface="Tahoma"/>
              </a:rPr>
              <a:t>III-</a:t>
            </a:r>
            <a:r>
              <a:rPr sz="1100" spc="-50" dirty="0">
                <a:solidFill>
                  <a:srgbClr val="133768"/>
                </a:solidFill>
                <a:latin typeface="Tahoma"/>
                <a:cs typeface="Tahoma"/>
              </a:rPr>
              <a:t>2026-</a:t>
            </a:r>
            <a:r>
              <a:rPr sz="1100" spc="-20" dirty="0">
                <a:solidFill>
                  <a:srgbClr val="133768"/>
                </a:solidFill>
                <a:latin typeface="Tahoma"/>
                <a:cs typeface="Tahoma"/>
              </a:rPr>
              <a:t>T007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1257" y="2580702"/>
            <a:ext cx="3117215" cy="49275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b="1" spc="-65" dirty="0">
                <a:latin typeface="Tahoma"/>
                <a:cs typeface="Tahoma"/>
              </a:rPr>
              <a:t>Department</a:t>
            </a:r>
            <a:r>
              <a:rPr sz="1100" b="1" spc="10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of</a:t>
            </a:r>
            <a:r>
              <a:rPr sz="1100" b="1" spc="15" dirty="0">
                <a:latin typeface="Tahoma"/>
                <a:cs typeface="Tahoma"/>
              </a:rPr>
              <a:t> </a:t>
            </a:r>
            <a:r>
              <a:rPr sz="1100" b="1" spc="-60" dirty="0">
                <a:latin typeface="Tahoma"/>
                <a:cs typeface="Tahoma"/>
              </a:rPr>
              <a:t>Computer</a:t>
            </a:r>
            <a:r>
              <a:rPr sz="1100" b="1" spc="10" dirty="0">
                <a:latin typeface="Tahoma"/>
                <a:cs typeface="Tahoma"/>
              </a:rPr>
              <a:t> </a:t>
            </a:r>
            <a:r>
              <a:rPr sz="1100" b="1" spc="-55" dirty="0">
                <a:latin typeface="Tahoma"/>
                <a:cs typeface="Tahoma"/>
              </a:rPr>
              <a:t>Science</a:t>
            </a:r>
            <a:r>
              <a:rPr sz="1100" b="1" spc="15" dirty="0">
                <a:latin typeface="Tahoma"/>
                <a:cs typeface="Tahoma"/>
              </a:rPr>
              <a:t> </a:t>
            </a:r>
            <a:r>
              <a:rPr sz="1100" b="1" dirty="0">
                <a:latin typeface="Tahoma"/>
                <a:cs typeface="Tahoma"/>
              </a:rPr>
              <a:t>&amp;</a:t>
            </a:r>
            <a:r>
              <a:rPr sz="1100" b="1" spc="10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Tahoma"/>
                <a:cs typeface="Tahoma"/>
              </a:rPr>
              <a:t>Engineering</a:t>
            </a:r>
            <a:endParaRPr sz="1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spc="-25" dirty="0">
                <a:latin typeface="Tahoma"/>
                <a:cs typeface="Tahoma"/>
              </a:rPr>
              <a:t>Graphic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Era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(Deemed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University), </a:t>
            </a:r>
            <a:r>
              <a:rPr sz="1100" spc="-10" dirty="0">
                <a:latin typeface="Tahoma"/>
                <a:cs typeface="Tahoma"/>
              </a:rPr>
              <a:t>Dehradun</a:t>
            </a:r>
            <a:endParaRPr sz="1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800" spc="-10" dirty="0">
                <a:latin typeface="Arial MT"/>
                <a:cs typeface="Arial MT"/>
              </a:rPr>
              <a:t>Academic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40" dirty="0">
                <a:latin typeface="Arial MT"/>
                <a:cs typeface="Arial MT"/>
              </a:rPr>
              <a:t>Session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35" dirty="0">
                <a:latin typeface="Arial MT"/>
                <a:cs typeface="Arial MT"/>
              </a:rPr>
              <a:t>2026–</a:t>
            </a:r>
            <a:r>
              <a:rPr sz="800" spc="-25" dirty="0">
                <a:latin typeface="Arial MT"/>
                <a:cs typeface="Arial MT"/>
              </a:rPr>
              <a:t>27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Team</a:t>
            </a:r>
            <a:r>
              <a:rPr spc="15" dirty="0"/>
              <a:t> </a:t>
            </a:r>
            <a:r>
              <a:rPr spc="85" dirty="0"/>
              <a:t>&amp;</a:t>
            </a:r>
            <a:r>
              <a:rPr spc="15" dirty="0"/>
              <a:t> </a:t>
            </a:r>
            <a:r>
              <a:rPr spc="-20" dirty="0"/>
              <a:t>Mentor</a:t>
            </a:r>
            <a:r>
              <a:rPr spc="20" dirty="0"/>
              <a:t> </a:t>
            </a:r>
            <a:r>
              <a:rPr spc="-45" dirty="0"/>
              <a:t>Details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9193" y="1107553"/>
            <a:ext cx="2520950" cy="187960"/>
          </a:xfrm>
          <a:custGeom>
            <a:avLst/>
            <a:gdLst/>
            <a:ahLst/>
            <a:cxnLst/>
            <a:rect l="l" t="t" r="r" b="b"/>
            <a:pathLst>
              <a:path w="2520950" h="187959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2520810" y="187823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47294" y="1086558"/>
            <a:ext cx="112966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80" dirty="0">
                <a:solidFill>
                  <a:srgbClr val="133768"/>
                </a:solidFill>
                <a:latin typeface="Arial MT"/>
                <a:cs typeface="Arial MT"/>
              </a:rPr>
              <a:t>Team</a:t>
            </a:r>
            <a:r>
              <a:rPr sz="1200" spc="5" dirty="0">
                <a:solidFill>
                  <a:srgbClr val="133768"/>
                </a:solidFill>
                <a:latin typeface="Arial MT"/>
                <a:cs typeface="Arial MT"/>
              </a:rPr>
              <a:t> </a:t>
            </a:r>
            <a:r>
              <a:rPr sz="1200" spc="-40" dirty="0">
                <a:solidFill>
                  <a:srgbClr val="133768"/>
                </a:solidFill>
                <a:latin typeface="Arial MT"/>
                <a:cs typeface="Arial MT"/>
              </a:rPr>
              <a:t>Information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09193" y="1282725"/>
            <a:ext cx="2520950" cy="1146810"/>
            <a:chOff x="309193" y="1282725"/>
            <a:chExt cx="2520950" cy="114681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1282725"/>
              <a:ext cx="2520810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09193" y="1326987"/>
              <a:ext cx="2520950" cy="1102360"/>
            </a:xfrm>
            <a:custGeom>
              <a:avLst/>
              <a:gdLst/>
              <a:ahLst/>
              <a:cxnLst/>
              <a:rect l="l" t="t" r="r" b="b"/>
              <a:pathLst>
                <a:path w="2520950" h="1102360">
                  <a:moveTo>
                    <a:pt x="2520810" y="0"/>
                  </a:moveTo>
                  <a:lnTo>
                    <a:pt x="0" y="0"/>
                  </a:lnTo>
                  <a:lnTo>
                    <a:pt x="0" y="1051392"/>
                  </a:lnTo>
                  <a:lnTo>
                    <a:pt x="4008" y="1071117"/>
                  </a:lnTo>
                  <a:lnTo>
                    <a:pt x="14922" y="1087270"/>
                  </a:lnTo>
                  <a:lnTo>
                    <a:pt x="31075" y="1098184"/>
                  </a:lnTo>
                  <a:lnTo>
                    <a:pt x="50800" y="1102192"/>
                  </a:lnTo>
                  <a:lnTo>
                    <a:pt x="2470010" y="1102192"/>
                  </a:lnTo>
                  <a:lnTo>
                    <a:pt x="2489735" y="1098184"/>
                  </a:lnTo>
                  <a:lnTo>
                    <a:pt x="2505888" y="1087270"/>
                  </a:lnTo>
                  <a:lnTo>
                    <a:pt x="2516802" y="1071117"/>
                  </a:lnTo>
                  <a:lnTo>
                    <a:pt x="2520810" y="1051392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318664" y="1321522"/>
            <a:ext cx="1309370" cy="68736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DSCPP-</a:t>
            </a:r>
            <a:r>
              <a:rPr sz="1100" spc="-35" dirty="0">
                <a:latin typeface="Tahoma"/>
                <a:cs typeface="Tahoma"/>
              </a:rPr>
              <a:t>III-</a:t>
            </a:r>
            <a:r>
              <a:rPr sz="1100" spc="-50" dirty="0">
                <a:latin typeface="Tahoma"/>
                <a:cs typeface="Tahoma"/>
              </a:rPr>
              <a:t>2026-</a:t>
            </a:r>
            <a:r>
              <a:rPr sz="1100" spc="-35" dirty="0">
                <a:latin typeface="Tahoma"/>
                <a:cs typeface="Tahoma"/>
              </a:rPr>
              <a:t>T007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Tahoma"/>
                <a:cs typeface="Tahoma"/>
              </a:rPr>
              <a:t>Null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Pointer</a:t>
            </a:r>
            <a:endParaRPr sz="1100" dirty="0">
              <a:latin typeface="Tahoma"/>
              <a:cs typeface="Tahoma"/>
            </a:endParaRPr>
          </a:p>
          <a:p>
            <a:pPr marL="12700" marR="151130">
              <a:lnSpc>
                <a:spcPct val="102600"/>
              </a:lnSpc>
            </a:pPr>
            <a:r>
              <a:rPr lang="en-US" sz="1100" i="1" dirty="0">
                <a:solidFill>
                  <a:srgbClr val="595959"/>
                </a:solidFill>
                <a:latin typeface="Arial"/>
                <a:cs typeface="Arial"/>
              </a:rPr>
              <a:t>3</a:t>
            </a:r>
            <a:r>
              <a:rPr lang="en-US" sz="1100" i="1" baseline="30000" dirty="0">
                <a:solidFill>
                  <a:srgbClr val="595959"/>
                </a:solidFill>
                <a:latin typeface="Arial"/>
                <a:cs typeface="Arial"/>
              </a:rPr>
              <a:t>rd</a:t>
            </a:r>
            <a:endParaRPr lang="en-US" sz="1100" i="1" dirty="0">
              <a:solidFill>
                <a:srgbClr val="595959"/>
              </a:solidFill>
              <a:latin typeface="Arial"/>
              <a:cs typeface="Arial"/>
            </a:endParaRPr>
          </a:p>
          <a:p>
            <a:pPr marL="12700" marR="151130">
              <a:lnSpc>
                <a:spcPct val="102600"/>
              </a:lnSpc>
            </a:pPr>
            <a:r>
              <a:rPr lang="en-US" sz="1100" i="1" dirty="0">
                <a:solidFill>
                  <a:srgbClr val="595959"/>
                </a:solidFill>
                <a:latin typeface="Arial"/>
                <a:cs typeface="Arial"/>
              </a:rPr>
              <a:t>ML1,F,ML2,B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7294" y="1321522"/>
            <a:ext cx="845185" cy="864147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b="1" spc="-45" dirty="0">
                <a:latin typeface="Tahoma"/>
                <a:cs typeface="Tahoma"/>
              </a:rPr>
              <a:t>Team</a:t>
            </a:r>
            <a:r>
              <a:rPr sz="1100" b="1" spc="-30" dirty="0">
                <a:latin typeface="Tahoma"/>
                <a:cs typeface="Tahoma"/>
              </a:rPr>
              <a:t> </a:t>
            </a:r>
            <a:r>
              <a:rPr sz="1100" b="1" spc="-25" dirty="0">
                <a:latin typeface="Tahoma"/>
                <a:cs typeface="Tahoma"/>
              </a:rPr>
              <a:t>ID: </a:t>
            </a:r>
            <a:r>
              <a:rPr sz="1100" b="1" spc="-45" dirty="0">
                <a:latin typeface="Tahoma"/>
                <a:cs typeface="Tahoma"/>
              </a:rPr>
              <a:t>Team</a:t>
            </a:r>
            <a:r>
              <a:rPr sz="1100" b="1" spc="-30" dirty="0">
                <a:latin typeface="Tahoma"/>
                <a:cs typeface="Tahoma"/>
              </a:rPr>
              <a:t> </a:t>
            </a:r>
            <a:r>
              <a:rPr sz="1100" b="1" spc="-80" dirty="0">
                <a:latin typeface="Tahoma"/>
                <a:cs typeface="Tahoma"/>
              </a:rPr>
              <a:t>Name: </a:t>
            </a:r>
            <a:r>
              <a:rPr sz="1100" b="1" spc="-10" dirty="0">
                <a:latin typeface="Tahoma"/>
                <a:cs typeface="Tahoma"/>
              </a:rPr>
              <a:t>Semester: Section: Domain: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930016" y="1107553"/>
            <a:ext cx="2520950" cy="187960"/>
          </a:xfrm>
          <a:custGeom>
            <a:avLst/>
            <a:gdLst/>
            <a:ahLst/>
            <a:cxnLst/>
            <a:rect l="l" t="t" r="r" b="b"/>
            <a:pathLst>
              <a:path w="2520950" h="187959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2520810" y="187823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968117" y="1086558"/>
            <a:ext cx="985519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80" dirty="0">
                <a:solidFill>
                  <a:srgbClr val="133768"/>
                </a:solidFill>
                <a:latin typeface="Arial MT"/>
                <a:cs typeface="Arial MT"/>
              </a:rPr>
              <a:t>Team</a:t>
            </a:r>
            <a:r>
              <a:rPr sz="1200" spc="5" dirty="0">
                <a:solidFill>
                  <a:srgbClr val="133768"/>
                </a:solidFill>
                <a:latin typeface="Arial MT"/>
                <a:cs typeface="Arial MT"/>
              </a:rPr>
              <a:t> </a:t>
            </a:r>
            <a:r>
              <a:rPr sz="1200" spc="-75" dirty="0">
                <a:solidFill>
                  <a:srgbClr val="133768"/>
                </a:solidFill>
                <a:latin typeface="Arial MT"/>
                <a:cs typeface="Arial MT"/>
              </a:rPr>
              <a:t>Members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930016" y="1282725"/>
            <a:ext cx="2520950" cy="933450"/>
            <a:chOff x="2930016" y="1282725"/>
            <a:chExt cx="2520950" cy="93345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0016" y="1282725"/>
              <a:ext cx="2520810" cy="5060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930016" y="1326993"/>
              <a:ext cx="2520950" cy="889000"/>
            </a:xfrm>
            <a:custGeom>
              <a:avLst/>
              <a:gdLst/>
              <a:ahLst/>
              <a:cxnLst/>
              <a:rect l="l" t="t" r="r" b="b"/>
              <a:pathLst>
                <a:path w="2520950" h="889000">
                  <a:moveTo>
                    <a:pt x="2520810" y="0"/>
                  </a:moveTo>
                  <a:lnTo>
                    <a:pt x="0" y="0"/>
                  </a:lnTo>
                  <a:lnTo>
                    <a:pt x="0" y="838089"/>
                  </a:lnTo>
                  <a:lnTo>
                    <a:pt x="4008" y="857814"/>
                  </a:lnTo>
                  <a:lnTo>
                    <a:pt x="14922" y="873967"/>
                  </a:lnTo>
                  <a:lnTo>
                    <a:pt x="31075" y="884881"/>
                  </a:lnTo>
                  <a:lnTo>
                    <a:pt x="50800" y="888890"/>
                  </a:lnTo>
                  <a:lnTo>
                    <a:pt x="2470010" y="888890"/>
                  </a:lnTo>
                  <a:lnTo>
                    <a:pt x="2489735" y="884881"/>
                  </a:lnTo>
                  <a:lnTo>
                    <a:pt x="2505888" y="873967"/>
                  </a:lnTo>
                  <a:lnTo>
                    <a:pt x="2516802" y="857814"/>
                  </a:lnTo>
                  <a:lnTo>
                    <a:pt x="2520810" y="838089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968117" y="1304974"/>
            <a:ext cx="1849120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58445" algn="l"/>
              </a:tabLst>
            </a:pPr>
            <a:r>
              <a:rPr sz="1100" spc="-25" dirty="0">
                <a:latin typeface="Tahoma"/>
                <a:cs typeface="Tahoma"/>
              </a:rPr>
              <a:t>1.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spc="-40" dirty="0">
                <a:latin typeface="Tahoma"/>
                <a:cs typeface="Tahoma"/>
              </a:rPr>
              <a:t>Devansh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Dangwal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(Lead)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–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2510370109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93264" y="2009811"/>
            <a:ext cx="1833880" cy="560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Data</a:t>
            </a:r>
            <a:r>
              <a:rPr sz="1100" spc="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Structures,</a:t>
            </a:r>
            <a:r>
              <a:rPr sz="1100" spc="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OOP</a:t>
            </a:r>
            <a:r>
              <a:rPr sz="1100" spc="35" dirty="0">
                <a:latin typeface="Tahoma"/>
                <a:cs typeface="Tahoma"/>
              </a:rPr>
              <a:t> </a:t>
            </a:r>
            <a:endParaRPr lang="en-IN" sz="1100" spc="35" dirty="0">
              <a:latin typeface="Tahoma"/>
              <a:cs typeface="Tahoma"/>
            </a:endParaRPr>
          </a:p>
          <a:p>
            <a:pPr marL="38100">
              <a:spcBef>
                <a:spcPts val="90"/>
              </a:spcBef>
            </a:pPr>
            <a:r>
              <a:rPr sz="1100" spc="-75" dirty="0">
                <a:latin typeface="Tahoma"/>
                <a:cs typeface="Tahoma"/>
              </a:rPr>
              <a:t>(C++)</a:t>
            </a:r>
            <a:r>
              <a:rPr lang="en-IN" sz="1100" spc="-75" dirty="0">
                <a:latin typeface="Tahoma"/>
                <a:cs typeface="Tahoma"/>
              </a:rPr>
              <a:t> </a:t>
            </a:r>
            <a:r>
              <a:rPr lang="en-IN" sz="1100" spc="85" dirty="0">
                <a:latin typeface="Tahoma"/>
                <a:cs typeface="Tahoma"/>
              </a:rPr>
              <a:t>&amp;</a:t>
            </a:r>
            <a:r>
              <a:rPr lang="en-IN" sz="1100" spc="15" dirty="0">
                <a:latin typeface="Tahoma"/>
                <a:cs typeface="Tahoma"/>
              </a:rPr>
              <a:t> </a:t>
            </a:r>
            <a:r>
              <a:rPr lang="en-IN" sz="1100" spc="30" dirty="0">
                <a:latin typeface="Tahoma"/>
                <a:cs typeface="Tahoma"/>
              </a:rPr>
              <a:t>DBMS</a:t>
            </a:r>
            <a:endParaRPr lang="en-IN" sz="1800" dirty="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90"/>
              </a:spcBef>
            </a:pPr>
            <a:endParaRPr sz="1650" baseline="7575" dirty="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68117" y="1649119"/>
            <a:ext cx="2083435" cy="51937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8445" indent="-245745">
              <a:lnSpc>
                <a:spcPct val="100000"/>
              </a:lnSpc>
              <a:spcBef>
                <a:spcPts val="90"/>
              </a:spcBef>
              <a:buAutoNum type="arabicPeriod" startAt="2"/>
              <a:tabLst>
                <a:tab pos="258445" algn="l"/>
              </a:tabLst>
            </a:pPr>
            <a:r>
              <a:rPr sz="1100" spc="-20" dirty="0">
                <a:latin typeface="Tahoma"/>
                <a:cs typeface="Tahoma"/>
              </a:rPr>
              <a:t>Aryan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Gusain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–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2510012634</a:t>
            </a:r>
            <a:endParaRPr sz="1100" dirty="0">
              <a:latin typeface="Arial"/>
              <a:cs typeface="Arial"/>
            </a:endParaRPr>
          </a:p>
          <a:p>
            <a:pPr marL="258445" indent="-245745">
              <a:lnSpc>
                <a:spcPct val="100000"/>
              </a:lnSpc>
              <a:spcBef>
                <a:spcPts val="35"/>
              </a:spcBef>
              <a:buAutoNum type="arabicPeriod" startAt="2"/>
              <a:tabLst>
                <a:tab pos="258445" algn="l"/>
              </a:tabLst>
            </a:pPr>
            <a:r>
              <a:rPr sz="1100" spc="-25" dirty="0">
                <a:latin typeface="Tahoma"/>
                <a:cs typeface="Tahoma"/>
              </a:rPr>
              <a:t>Vinayak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Lakhera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–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spc="-65" dirty="0">
                <a:solidFill>
                  <a:srgbClr val="595959"/>
                </a:solidFill>
                <a:latin typeface="Arial"/>
                <a:cs typeface="Arial"/>
              </a:rPr>
              <a:t>2510010715</a:t>
            </a:r>
            <a:endParaRPr lang="en-IN" sz="1100" i="1" spc="-65" dirty="0">
              <a:solidFill>
                <a:srgbClr val="595959"/>
              </a:solidFill>
              <a:latin typeface="Arial"/>
              <a:cs typeface="Arial"/>
            </a:endParaRPr>
          </a:p>
          <a:p>
            <a:pPr marL="258445" indent="-245745">
              <a:lnSpc>
                <a:spcPct val="100000"/>
              </a:lnSpc>
              <a:spcBef>
                <a:spcPts val="35"/>
              </a:spcBef>
              <a:buAutoNum type="arabicPeriod" startAt="2"/>
              <a:tabLst>
                <a:tab pos="258445" algn="l"/>
              </a:tabLst>
            </a:pPr>
            <a:r>
              <a:rPr lang="en-IN" sz="1100" spc="-30" dirty="0">
                <a:latin typeface="Tahoma"/>
                <a:cs typeface="Tahoma"/>
              </a:rPr>
              <a:t>Gautam</a:t>
            </a:r>
            <a:r>
              <a:rPr lang="en-IN" sz="1100" spc="-40" dirty="0">
                <a:latin typeface="Tahoma"/>
                <a:cs typeface="Tahoma"/>
              </a:rPr>
              <a:t> </a:t>
            </a:r>
            <a:r>
              <a:rPr lang="en-IN" sz="1100" spc="-25" dirty="0">
                <a:latin typeface="Tahoma"/>
                <a:cs typeface="Tahoma"/>
              </a:rPr>
              <a:t>Singh</a:t>
            </a:r>
            <a:r>
              <a:rPr lang="en-IN" sz="1100" spc="-35" dirty="0">
                <a:latin typeface="Tahoma"/>
                <a:cs typeface="Tahoma"/>
              </a:rPr>
              <a:t> </a:t>
            </a:r>
            <a:r>
              <a:rPr lang="en-IN" sz="1100" dirty="0">
                <a:latin typeface="Tahoma"/>
                <a:cs typeface="Tahoma"/>
              </a:rPr>
              <a:t>–</a:t>
            </a:r>
            <a:r>
              <a:rPr lang="en-IN" sz="1100" spc="-40" dirty="0">
                <a:latin typeface="Tahoma"/>
                <a:cs typeface="Tahoma"/>
              </a:rPr>
              <a:t> </a:t>
            </a:r>
            <a:r>
              <a:rPr lang="en-IN" sz="1100" i="1" spc="-10" dirty="0">
                <a:solidFill>
                  <a:srgbClr val="595959"/>
                </a:solidFill>
                <a:latin typeface="Arial"/>
                <a:cs typeface="Arial"/>
              </a:rPr>
              <a:t>2510012593 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09193" y="2589758"/>
            <a:ext cx="5142230" cy="187960"/>
          </a:xfrm>
          <a:custGeom>
            <a:avLst/>
            <a:gdLst/>
            <a:ahLst/>
            <a:cxnLst/>
            <a:rect l="l" t="t" r="r" b="b"/>
            <a:pathLst>
              <a:path w="5142230" h="187960">
                <a:moveTo>
                  <a:pt x="50908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5141666" y="187823"/>
                </a:lnTo>
                <a:lnTo>
                  <a:pt x="5141666" y="50800"/>
                </a:lnTo>
                <a:lnTo>
                  <a:pt x="5137657" y="31075"/>
                </a:lnTo>
                <a:lnTo>
                  <a:pt x="5126743" y="14922"/>
                </a:lnTo>
                <a:lnTo>
                  <a:pt x="5110590" y="4008"/>
                </a:lnTo>
                <a:lnTo>
                  <a:pt x="5090865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47294" y="2568762"/>
            <a:ext cx="47117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35" dirty="0">
                <a:solidFill>
                  <a:srgbClr val="133768"/>
                </a:solidFill>
                <a:latin typeface="Arial MT"/>
                <a:cs typeface="Arial MT"/>
              </a:rPr>
              <a:t>Mentor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09193" y="2764916"/>
            <a:ext cx="5142230" cy="238125"/>
            <a:chOff x="309193" y="2764916"/>
            <a:chExt cx="5142230" cy="238125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9193" y="2764916"/>
              <a:ext cx="5141666" cy="5060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09193" y="2809210"/>
              <a:ext cx="5142230" cy="193675"/>
            </a:xfrm>
            <a:custGeom>
              <a:avLst/>
              <a:gdLst/>
              <a:ahLst/>
              <a:cxnLst/>
              <a:rect l="l" t="t" r="r" b="b"/>
              <a:pathLst>
                <a:path w="5142230" h="193675">
                  <a:moveTo>
                    <a:pt x="5141666" y="0"/>
                  </a:moveTo>
                  <a:lnTo>
                    <a:pt x="0" y="0"/>
                  </a:lnTo>
                  <a:lnTo>
                    <a:pt x="0" y="142853"/>
                  </a:lnTo>
                  <a:lnTo>
                    <a:pt x="4008" y="162578"/>
                  </a:lnTo>
                  <a:lnTo>
                    <a:pt x="14922" y="178731"/>
                  </a:lnTo>
                  <a:lnTo>
                    <a:pt x="31075" y="189645"/>
                  </a:lnTo>
                  <a:lnTo>
                    <a:pt x="50800" y="193654"/>
                  </a:lnTo>
                  <a:lnTo>
                    <a:pt x="5090865" y="193654"/>
                  </a:lnTo>
                  <a:lnTo>
                    <a:pt x="5110590" y="189645"/>
                  </a:lnTo>
                  <a:lnTo>
                    <a:pt x="5126743" y="178731"/>
                  </a:lnTo>
                  <a:lnTo>
                    <a:pt x="5137657" y="162578"/>
                  </a:lnTo>
                  <a:lnTo>
                    <a:pt x="5141666" y="142853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47294" y="2779482"/>
            <a:ext cx="11309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solidFill>
                  <a:srgbClr val="595959"/>
                </a:solidFill>
                <a:latin typeface="Arial"/>
                <a:cs typeface="Arial"/>
              </a:rPr>
              <a:t>Mr.</a:t>
            </a:r>
            <a:r>
              <a:rPr sz="1100" i="1" spc="1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35" dirty="0">
                <a:solidFill>
                  <a:srgbClr val="595959"/>
                </a:solidFill>
                <a:latin typeface="Arial"/>
                <a:cs typeface="Arial"/>
              </a:rPr>
              <a:t>Kanishk</a:t>
            </a:r>
            <a:r>
              <a:rPr sz="1100" i="1" spc="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Bhatt</a:t>
            </a:r>
            <a:endParaRPr sz="1100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spc="-20" dirty="0"/>
              <a:t>2</a:t>
            </a:fld>
            <a:r>
              <a:rPr spc="-20" dirty="0"/>
              <a:t>/10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3332840" y="2779482"/>
            <a:ext cx="208026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066925" algn="l"/>
              </a:tabLst>
            </a:pPr>
            <a:r>
              <a:rPr sz="1100" b="1" spc="-75" dirty="0">
                <a:latin typeface="Tahoma"/>
                <a:cs typeface="Tahoma"/>
              </a:rPr>
              <a:t>Interactions</a:t>
            </a:r>
            <a:r>
              <a:rPr sz="1100" b="1" spc="10" dirty="0">
                <a:latin typeface="Tahoma"/>
                <a:cs typeface="Tahoma"/>
              </a:rPr>
              <a:t> </a:t>
            </a:r>
            <a:r>
              <a:rPr sz="1100" b="1" spc="-65" dirty="0">
                <a:latin typeface="Tahoma"/>
                <a:cs typeface="Tahoma"/>
              </a:rPr>
              <a:t>completed:</a:t>
            </a:r>
            <a:r>
              <a:rPr sz="1100" b="1" spc="85" dirty="0">
                <a:latin typeface="Tahoma"/>
                <a:cs typeface="Tahoma"/>
              </a:rPr>
              <a:t> </a:t>
            </a:r>
            <a:r>
              <a:rPr lang="en-US" sz="1100" b="1" u="sng" spc="-5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4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endParaRPr sz="11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Problem</a:t>
            </a:r>
            <a:r>
              <a:rPr spc="35" dirty="0"/>
              <a:t> </a:t>
            </a:r>
            <a:r>
              <a:rPr spc="-55" dirty="0"/>
              <a:t>Statement</a:t>
            </a:r>
            <a:r>
              <a:rPr spc="40" dirty="0"/>
              <a:t> </a:t>
            </a:r>
            <a:r>
              <a:rPr spc="85" dirty="0"/>
              <a:t>&amp;</a:t>
            </a:r>
            <a:r>
              <a:rPr spc="40" dirty="0"/>
              <a:t> </a:t>
            </a:r>
            <a:r>
              <a:rPr spc="-35" dirty="0"/>
              <a:t>Motivation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08876" y="969841"/>
            <a:ext cx="5142230" cy="705485"/>
            <a:chOff x="309193" y="979931"/>
            <a:chExt cx="5142230" cy="705485"/>
          </a:xfrm>
        </p:grpSpPr>
        <p:sp>
          <p:nvSpPr>
            <p:cNvPr id="5" name="object 5"/>
            <p:cNvSpPr/>
            <p:nvPr/>
          </p:nvSpPr>
          <p:spPr>
            <a:xfrm>
              <a:off x="309193" y="979931"/>
              <a:ext cx="5142230" cy="187960"/>
            </a:xfrm>
            <a:custGeom>
              <a:avLst/>
              <a:gdLst/>
              <a:ahLst/>
              <a:cxnLst/>
              <a:rect l="l" t="t" r="r" b="b"/>
              <a:pathLst>
                <a:path w="5142230" h="187959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7823"/>
                  </a:lnTo>
                  <a:lnTo>
                    <a:pt x="5141666" y="187823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1155102"/>
              <a:ext cx="5141666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9193" y="1199373"/>
              <a:ext cx="5142230" cy="486409"/>
            </a:xfrm>
            <a:custGeom>
              <a:avLst/>
              <a:gdLst/>
              <a:ahLst/>
              <a:cxnLst/>
              <a:rect l="l" t="t" r="r" b="b"/>
              <a:pathLst>
                <a:path w="5142230" h="486410">
                  <a:moveTo>
                    <a:pt x="5141666" y="0"/>
                  </a:moveTo>
                  <a:lnTo>
                    <a:pt x="0" y="0"/>
                  </a:lnTo>
                  <a:lnTo>
                    <a:pt x="0" y="435065"/>
                  </a:lnTo>
                  <a:lnTo>
                    <a:pt x="4008" y="454790"/>
                  </a:lnTo>
                  <a:lnTo>
                    <a:pt x="14922" y="470943"/>
                  </a:lnTo>
                  <a:lnTo>
                    <a:pt x="31075" y="481857"/>
                  </a:lnTo>
                  <a:lnTo>
                    <a:pt x="50800" y="485865"/>
                  </a:lnTo>
                  <a:lnTo>
                    <a:pt x="5090865" y="485865"/>
                  </a:lnTo>
                  <a:lnTo>
                    <a:pt x="5110590" y="481857"/>
                  </a:lnTo>
                  <a:lnTo>
                    <a:pt x="5126743" y="470943"/>
                  </a:lnTo>
                  <a:lnTo>
                    <a:pt x="5137657" y="454790"/>
                  </a:lnTo>
                  <a:lnTo>
                    <a:pt x="5141666" y="435065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47294" y="920297"/>
            <a:ext cx="4986020" cy="73406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200" spc="-60" dirty="0">
                <a:solidFill>
                  <a:srgbClr val="133768"/>
                </a:solidFill>
                <a:latin typeface="Arial MT"/>
                <a:cs typeface="Arial MT"/>
              </a:rPr>
              <a:t>Problem</a:t>
            </a:r>
            <a:r>
              <a:rPr sz="1200" spc="30" dirty="0">
                <a:solidFill>
                  <a:srgbClr val="133768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33768"/>
                </a:solidFill>
                <a:latin typeface="Arial MT"/>
                <a:cs typeface="Arial MT"/>
              </a:rPr>
              <a:t>Statement</a:t>
            </a:r>
            <a:endParaRPr sz="1200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245"/>
              </a:spcBef>
            </a:pPr>
            <a:r>
              <a:rPr sz="1000" spc="-25" dirty="0">
                <a:latin typeface="Tahoma"/>
                <a:cs typeface="Tahoma"/>
              </a:rPr>
              <a:t>College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students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have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no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way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knowing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where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their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bus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currently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is,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whether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it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has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left,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or </a:t>
            </a:r>
            <a:r>
              <a:rPr sz="1000" spc="-40" dirty="0">
                <a:latin typeface="Tahoma"/>
                <a:cs typeface="Tahoma"/>
              </a:rPr>
              <a:t>whether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it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has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free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seats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–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so</a:t>
            </a:r>
            <a:r>
              <a:rPr sz="1000" spc="-25" dirty="0">
                <a:latin typeface="Tahoma"/>
                <a:cs typeface="Tahoma"/>
              </a:rPr>
              <a:t> they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wait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blindly, </a:t>
            </a:r>
            <a:r>
              <a:rPr sz="1000" spc="-45" dirty="0">
                <a:latin typeface="Tahoma"/>
                <a:cs typeface="Tahoma"/>
              </a:rPr>
              <a:t>sometimes</a:t>
            </a:r>
            <a:r>
              <a:rPr sz="1000" spc="-30" dirty="0">
                <a:latin typeface="Tahoma"/>
                <a:cs typeface="Tahoma"/>
              </a:rPr>
              <a:t> missing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bus.</a:t>
            </a:r>
            <a:r>
              <a:rPr sz="1000" spc="6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No</a:t>
            </a:r>
            <a:r>
              <a:rPr sz="1000" spc="-30" dirty="0">
                <a:latin typeface="Tahoma"/>
                <a:cs typeface="Tahoma"/>
              </a:rPr>
              <a:t> simple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system </a:t>
            </a:r>
            <a:r>
              <a:rPr sz="1000" spc="-65" dirty="0">
                <a:latin typeface="Tahoma"/>
                <a:cs typeface="Tahoma"/>
              </a:rPr>
              <a:t>shows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bus’s </a:t>
            </a:r>
            <a:r>
              <a:rPr sz="1000" spc="-10" dirty="0">
                <a:latin typeface="Tahoma"/>
                <a:cs typeface="Tahoma"/>
              </a:rPr>
              <a:t>live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status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on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its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fixed,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already-known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route.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spc="-20" dirty="0"/>
              <a:t>3</a:t>
            </a:fld>
            <a:r>
              <a:rPr spc="-20" dirty="0"/>
              <a:t>/10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21894" y="1703305"/>
            <a:ext cx="2485390" cy="134175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90"/>
              </a:spcBef>
            </a:pPr>
            <a:r>
              <a:rPr sz="1000" b="1" spc="-10" dirty="0">
                <a:solidFill>
                  <a:srgbClr val="133768"/>
                </a:solidFill>
                <a:latin typeface="Tahoma"/>
                <a:cs typeface="Tahoma"/>
              </a:rPr>
              <a:t>Motivation</a:t>
            </a:r>
            <a:endParaRPr sz="1000" dirty="0">
              <a:latin typeface="Tahoma"/>
              <a:cs typeface="Tahoma"/>
            </a:endParaRPr>
          </a:p>
          <a:p>
            <a:pPr marL="312420" marR="30480" indent="-165735">
              <a:lnSpc>
                <a:spcPct val="100000"/>
              </a:lnSpc>
              <a:spcBef>
                <a:spcPts val="59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000" dirty="0">
                <a:latin typeface="Tahoma"/>
                <a:cs typeface="Tahoma"/>
              </a:rPr>
              <a:t>No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live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way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check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bus’s</a:t>
            </a:r>
            <a:r>
              <a:rPr sz="1000" spc="-20" dirty="0">
                <a:latin typeface="Tahoma"/>
                <a:cs typeface="Tahoma"/>
              </a:rPr>
              <a:t> stop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105" dirty="0">
                <a:latin typeface="Tahoma"/>
                <a:cs typeface="Tahoma"/>
              </a:rPr>
              <a:t>/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seat 	</a:t>
            </a:r>
            <a:r>
              <a:rPr sz="1000" spc="-10" dirty="0">
                <a:latin typeface="Tahoma"/>
                <a:cs typeface="Tahoma"/>
              </a:rPr>
              <a:t>status</a:t>
            </a:r>
            <a:endParaRPr sz="1000" dirty="0">
              <a:latin typeface="Tahoma"/>
              <a:cs typeface="Tahoma"/>
            </a:endParaRPr>
          </a:p>
          <a:p>
            <a:pPr marL="312420" marR="253365" indent="-165735">
              <a:lnSpc>
                <a:spcPct val="100000"/>
              </a:lnSpc>
              <a:spcBef>
                <a:spcPts val="39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000" spc="-30" dirty="0">
                <a:latin typeface="Tahoma"/>
                <a:cs typeface="Tahoma"/>
              </a:rPr>
              <a:t>Students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waste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time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waiting </a:t>
            </a:r>
            <a:r>
              <a:rPr sz="1000" spc="-10" dirty="0">
                <a:latin typeface="Tahoma"/>
                <a:cs typeface="Tahoma"/>
              </a:rPr>
              <a:t>or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miss 	</a:t>
            </a:r>
            <a:r>
              <a:rPr sz="1000" spc="-10" dirty="0">
                <a:latin typeface="Tahoma"/>
                <a:cs typeface="Tahoma"/>
              </a:rPr>
              <a:t>buses</a:t>
            </a:r>
            <a:endParaRPr sz="1000" dirty="0">
              <a:latin typeface="Tahoma"/>
              <a:cs typeface="Tahoma"/>
            </a:endParaRPr>
          </a:p>
          <a:p>
            <a:pPr marL="312420" marR="212090" indent="-165735">
              <a:lnSpc>
                <a:spcPct val="100000"/>
              </a:lnSpc>
              <a:spcBef>
                <a:spcPts val="39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000" spc="-10" dirty="0">
                <a:latin typeface="Tahoma"/>
                <a:cs typeface="Tahoma"/>
              </a:rPr>
              <a:t>Existing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“solutions”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(word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mouth, 	</a:t>
            </a:r>
            <a:r>
              <a:rPr sz="1000" spc="-10" dirty="0">
                <a:latin typeface="Tahoma"/>
                <a:cs typeface="Tahoma"/>
              </a:rPr>
              <a:t>WhatsApp)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are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manual,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unreliable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42717" y="1710315"/>
            <a:ext cx="2190750" cy="134175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sz="1000" b="1" spc="-45" dirty="0">
                <a:solidFill>
                  <a:srgbClr val="133768"/>
                </a:solidFill>
                <a:latin typeface="Tahoma"/>
                <a:cs typeface="Tahoma"/>
              </a:rPr>
              <a:t>Target</a:t>
            </a:r>
            <a:r>
              <a:rPr sz="1000" b="1" spc="5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000" b="1" spc="-50" dirty="0">
                <a:solidFill>
                  <a:srgbClr val="133768"/>
                </a:solidFill>
                <a:latin typeface="Tahoma"/>
                <a:cs typeface="Tahoma"/>
              </a:rPr>
              <a:t>Users</a:t>
            </a:r>
            <a:r>
              <a:rPr sz="1000" b="1" spc="10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000" b="1" dirty="0">
                <a:solidFill>
                  <a:srgbClr val="133768"/>
                </a:solidFill>
                <a:latin typeface="Tahoma"/>
                <a:cs typeface="Tahoma"/>
              </a:rPr>
              <a:t>/</a:t>
            </a:r>
            <a:r>
              <a:rPr sz="1000" b="1" spc="10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000" b="1" spc="-10" dirty="0">
                <a:solidFill>
                  <a:srgbClr val="133768"/>
                </a:solidFill>
                <a:latin typeface="Tahoma"/>
                <a:cs typeface="Tahoma"/>
              </a:rPr>
              <a:t>Stakeholders</a:t>
            </a:r>
            <a:endParaRPr sz="1000" dirty="0">
              <a:latin typeface="Tahoma"/>
              <a:cs typeface="Tahoma"/>
            </a:endParaRPr>
          </a:p>
          <a:p>
            <a:pPr marL="312420" marR="96520" indent="-165735">
              <a:lnSpc>
                <a:spcPct val="100000"/>
              </a:lnSpc>
              <a:spcBef>
                <a:spcPts val="59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000" spc="-10" dirty="0">
                <a:latin typeface="Tahoma"/>
                <a:cs typeface="Tahoma"/>
              </a:rPr>
              <a:t>Primary: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Students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commuting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on 	</a:t>
            </a:r>
            <a:r>
              <a:rPr sz="1000" spc="-35" dirty="0">
                <a:latin typeface="Tahoma"/>
                <a:cs typeface="Tahoma"/>
              </a:rPr>
              <a:t>college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buses</a:t>
            </a:r>
            <a:endParaRPr sz="1000" dirty="0">
              <a:latin typeface="Tahoma"/>
              <a:cs typeface="Tahoma"/>
            </a:endParaRPr>
          </a:p>
          <a:p>
            <a:pPr marL="312420" marR="30480" indent="-165735">
              <a:lnSpc>
                <a:spcPct val="100000"/>
              </a:lnSpc>
              <a:spcBef>
                <a:spcPts val="39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000" spc="-40" dirty="0">
                <a:latin typeface="Tahoma"/>
                <a:cs typeface="Tahoma"/>
              </a:rPr>
              <a:t>Secondary:</a:t>
            </a:r>
            <a:r>
              <a:rPr sz="1000" spc="9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Conductors/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Transport 	</a:t>
            </a:r>
            <a:r>
              <a:rPr sz="1000" spc="-10" dirty="0">
                <a:latin typeface="Tahoma"/>
                <a:cs typeface="Tahoma"/>
              </a:rPr>
              <a:t>Dept./HOD</a:t>
            </a:r>
            <a:endParaRPr sz="1000" dirty="0">
              <a:latin typeface="Tahoma"/>
              <a:cs typeface="Tahoma"/>
            </a:endParaRPr>
          </a:p>
          <a:p>
            <a:pPr marL="312420" marR="49530" indent="-165735">
              <a:lnSpc>
                <a:spcPct val="100000"/>
              </a:lnSpc>
              <a:spcBef>
                <a:spcPts val="39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000" spc="-10" dirty="0">
                <a:latin typeface="Tahoma"/>
                <a:cs typeface="Tahoma"/>
              </a:rPr>
              <a:t>Benefit:</a:t>
            </a:r>
            <a:r>
              <a:rPr sz="1000" spc="7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less</a:t>
            </a:r>
            <a:r>
              <a:rPr sz="1000" spc="-25" dirty="0">
                <a:latin typeface="Tahoma"/>
                <a:cs typeface="Tahoma"/>
              </a:rPr>
              <a:t> waiting, </a:t>
            </a:r>
            <a:r>
              <a:rPr sz="1000" spc="-55" dirty="0">
                <a:latin typeface="Tahoma"/>
                <a:cs typeface="Tahoma"/>
              </a:rPr>
              <a:t>fewer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missed 	</a:t>
            </a:r>
            <a:r>
              <a:rPr sz="1000" spc="-30" dirty="0">
                <a:latin typeface="Tahoma"/>
                <a:cs typeface="Tahoma"/>
              </a:rPr>
              <a:t>Buses, </a:t>
            </a:r>
            <a:r>
              <a:rPr sz="1000" spc="-25" dirty="0">
                <a:latin typeface="Tahoma"/>
                <a:cs typeface="Tahoma"/>
              </a:rPr>
              <a:t>realtime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visibility</a:t>
            </a:r>
            <a:endParaRPr sz="10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5" dirty="0"/>
              <a:t>Objectives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7294" y="902308"/>
            <a:ext cx="5007610" cy="16789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40" dirty="0">
                <a:solidFill>
                  <a:srgbClr val="133768"/>
                </a:solidFill>
                <a:latin typeface="Tahoma"/>
                <a:cs typeface="Tahoma"/>
              </a:rPr>
              <a:t>Project</a:t>
            </a:r>
            <a:r>
              <a:rPr sz="1100" b="1" spc="-5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133768"/>
                </a:solidFill>
                <a:latin typeface="Tahoma"/>
                <a:cs typeface="Tahoma"/>
              </a:rPr>
              <a:t>Objectives</a:t>
            </a:r>
            <a:endParaRPr sz="1100" dirty="0">
              <a:latin typeface="Tahoma"/>
              <a:cs typeface="Tahoma"/>
            </a:endParaRPr>
          </a:p>
          <a:p>
            <a:pPr marL="288925" indent="-167005">
              <a:lnSpc>
                <a:spcPct val="100000"/>
              </a:lnSpc>
              <a:spcBef>
                <a:spcPts val="940"/>
              </a:spcBef>
              <a:buClr>
                <a:srgbClr val="133768"/>
              </a:buClr>
              <a:buAutoNum type="arabicPeriod"/>
              <a:tabLst>
                <a:tab pos="288925" algn="l"/>
              </a:tabLst>
            </a:pPr>
            <a:r>
              <a:rPr sz="1000" dirty="0">
                <a:latin typeface="Tahoma"/>
                <a:cs typeface="Tahoma"/>
              </a:rPr>
              <a:t>Let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30" dirty="0">
                <a:latin typeface="Tahoma"/>
                <a:cs typeface="Tahoma"/>
              </a:rPr>
              <a:t> conductor update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bus’s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current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stop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 </a:t>
            </a:r>
            <a:r>
              <a:rPr sz="1000" spc="-30" dirty="0">
                <a:latin typeface="Tahoma"/>
                <a:cs typeface="Tahoma"/>
              </a:rPr>
              <a:t>seat </a:t>
            </a:r>
            <a:r>
              <a:rPr sz="1000" spc="-10" dirty="0">
                <a:latin typeface="Tahoma"/>
                <a:cs typeface="Tahoma"/>
              </a:rPr>
              <a:t>availability.</a:t>
            </a:r>
            <a:endParaRPr sz="1000" dirty="0">
              <a:latin typeface="Tahoma"/>
              <a:cs typeface="Tahoma"/>
            </a:endParaRPr>
          </a:p>
          <a:p>
            <a:pPr marL="288290" marR="57785" indent="-167005">
              <a:lnSpc>
                <a:spcPct val="100000"/>
              </a:lnSpc>
              <a:spcBef>
                <a:spcPts val="595"/>
              </a:spcBef>
              <a:buClr>
                <a:srgbClr val="133768"/>
              </a:buClr>
              <a:buAutoNum type="arabicPeriod"/>
              <a:tabLst>
                <a:tab pos="289560" algn="l"/>
              </a:tabLst>
            </a:pPr>
            <a:r>
              <a:rPr sz="1000" spc="-45" dirty="0">
                <a:latin typeface="Tahoma"/>
                <a:cs typeface="Tahoma"/>
              </a:rPr>
              <a:t>Implement</a:t>
            </a:r>
            <a:r>
              <a:rPr sz="1000" spc="-20" dirty="0">
                <a:latin typeface="Tahoma"/>
                <a:cs typeface="Tahoma"/>
              </a:rPr>
              <a:t> the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core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data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structures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(linked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list,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queue,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stack,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priority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queue,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hash</a:t>
            </a:r>
            <a:r>
              <a:rPr sz="1000" spc="-10" dirty="0">
                <a:latin typeface="Tahoma"/>
                <a:cs typeface="Tahoma"/>
              </a:rPr>
              <a:t> table) 	</a:t>
            </a:r>
            <a:r>
              <a:rPr sz="1000" spc="-20" dirty="0">
                <a:latin typeface="Tahoma"/>
                <a:cs typeface="Tahoma"/>
              </a:rPr>
              <a:t>driving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the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Bus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Status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Engine.</a:t>
            </a:r>
            <a:endParaRPr sz="1000" dirty="0">
              <a:latin typeface="Tahoma"/>
              <a:cs typeface="Tahoma"/>
            </a:endParaRPr>
          </a:p>
          <a:p>
            <a:pPr marL="288290" marR="126364" indent="-167005">
              <a:lnSpc>
                <a:spcPct val="100000"/>
              </a:lnSpc>
              <a:spcBef>
                <a:spcPts val="590"/>
              </a:spcBef>
              <a:buClr>
                <a:srgbClr val="133768"/>
              </a:buClr>
              <a:buAutoNum type="arabicPeriod"/>
              <a:tabLst>
                <a:tab pos="289560" algn="l"/>
              </a:tabLst>
            </a:pPr>
            <a:r>
              <a:rPr sz="1000" dirty="0">
                <a:latin typeface="Tahoma"/>
                <a:cs typeface="Tahoma"/>
              </a:rPr>
              <a:t>Model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the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system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C++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OOP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(classes,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inheritance,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polymorphism,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encapsulation) 	</a:t>
            </a:r>
            <a:r>
              <a:rPr sz="1000" spc="-40" dirty="0">
                <a:latin typeface="Tahoma"/>
                <a:cs typeface="Tahoma"/>
              </a:rPr>
              <a:t>backed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by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MySQL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database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20" dirty="0">
                <a:latin typeface="Tahoma"/>
                <a:cs typeface="Tahoma"/>
              </a:rPr>
              <a:t> fixed</a:t>
            </a:r>
            <a:r>
              <a:rPr sz="1000" spc="-10" dirty="0">
                <a:latin typeface="Tahoma"/>
                <a:cs typeface="Tahoma"/>
              </a:rPr>
              <a:t> routes/stops/ETAs.</a:t>
            </a:r>
            <a:endParaRPr sz="1000" dirty="0">
              <a:latin typeface="Tahoma"/>
              <a:cs typeface="Tahoma"/>
            </a:endParaRPr>
          </a:p>
          <a:p>
            <a:pPr marL="288925" indent="-167005">
              <a:lnSpc>
                <a:spcPct val="100000"/>
              </a:lnSpc>
              <a:spcBef>
                <a:spcPts val="585"/>
              </a:spcBef>
              <a:buClr>
                <a:srgbClr val="133768"/>
              </a:buClr>
              <a:buAutoNum type="arabicPeriod"/>
              <a:tabLst>
                <a:tab pos="288925" algn="l"/>
              </a:tabLst>
            </a:pPr>
            <a:r>
              <a:rPr sz="1000" spc="-10" dirty="0">
                <a:latin typeface="Tahoma"/>
                <a:cs typeface="Tahoma"/>
              </a:rPr>
              <a:t>Test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normal,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missed-</a:t>
            </a:r>
            <a:r>
              <a:rPr sz="1000" spc="-30" dirty="0">
                <a:latin typeface="Tahoma"/>
                <a:cs typeface="Tahoma"/>
              </a:rPr>
              <a:t>bus,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resting-</a:t>
            </a:r>
            <a:r>
              <a:rPr sz="1000" spc="-35" dirty="0">
                <a:latin typeface="Tahoma"/>
                <a:cs typeface="Tahoma"/>
              </a:rPr>
              <a:t>bus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invalid-</a:t>
            </a:r>
            <a:r>
              <a:rPr sz="1000" spc="-25" dirty="0">
                <a:latin typeface="Tahoma"/>
                <a:cs typeface="Tahoma"/>
              </a:rPr>
              <a:t>update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scenarios.</a:t>
            </a:r>
            <a:endParaRPr sz="1000" dirty="0">
              <a:latin typeface="Tahoma"/>
              <a:cs typeface="Tahoma"/>
            </a:endParaRPr>
          </a:p>
          <a:p>
            <a:pPr marL="288925" indent="-167005">
              <a:lnSpc>
                <a:spcPct val="100000"/>
              </a:lnSpc>
              <a:spcBef>
                <a:spcPts val="595"/>
              </a:spcBef>
              <a:buClr>
                <a:srgbClr val="133768"/>
              </a:buClr>
              <a:buAutoNum type="arabicPeriod"/>
              <a:tabLst>
                <a:tab pos="288925" algn="l"/>
              </a:tabLst>
            </a:pPr>
            <a:r>
              <a:rPr sz="1000" spc="-35" dirty="0">
                <a:latin typeface="Tahoma"/>
                <a:cs typeface="Tahoma"/>
              </a:rPr>
              <a:t>Demonstrate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three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dashboards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(Student,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Conductor,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HOD)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10" dirty="0">
                <a:latin typeface="Tahoma"/>
                <a:cs typeface="Tahoma"/>
              </a:rPr>
              <a:t> live,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color-</a:t>
            </a:r>
            <a:r>
              <a:rPr sz="1000" spc="-30" dirty="0">
                <a:latin typeface="Tahoma"/>
                <a:cs typeface="Tahoma"/>
              </a:rPr>
              <a:t>coded</a:t>
            </a:r>
            <a:r>
              <a:rPr sz="1000" spc="-10" dirty="0">
                <a:latin typeface="Tahoma"/>
                <a:cs typeface="Tahoma"/>
              </a:rPr>
              <a:t> status.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spc="-20" dirty="0"/>
              <a:t>4</a:t>
            </a:fld>
            <a:r>
              <a:rPr spc="-20" dirty="0"/>
              <a:t>/10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26033" y="2688158"/>
            <a:ext cx="4108450" cy="340360"/>
          </a:xfrm>
          <a:prstGeom prst="rect">
            <a:avLst/>
          </a:prstGeom>
          <a:solidFill>
            <a:srgbClr val="EDF3FA"/>
          </a:solidFill>
        </p:spPr>
        <p:txBody>
          <a:bodyPr vert="horz" wrap="square" lIns="0" tIns="3810" rIns="0" bIns="0" rtlCol="0">
            <a:spAutoFit/>
          </a:bodyPr>
          <a:lstStyle/>
          <a:p>
            <a:pPr marL="1566545" marR="30480" indent="-1529080">
              <a:lnSpc>
                <a:spcPts val="1200"/>
              </a:lnSpc>
              <a:spcBef>
                <a:spcPts val="30"/>
              </a:spcBef>
            </a:pPr>
            <a:r>
              <a:rPr sz="1000" b="1" dirty="0">
                <a:latin typeface="Tahoma"/>
                <a:cs typeface="Tahoma"/>
              </a:rPr>
              <a:t>Key</a:t>
            </a:r>
            <a:r>
              <a:rPr sz="1000" b="1" spc="-10" dirty="0">
                <a:latin typeface="Tahoma"/>
                <a:cs typeface="Tahoma"/>
              </a:rPr>
              <a:t> </a:t>
            </a:r>
            <a:r>
              <a:rPr sz="1000" b="1" spc="-50" dirty="0">
                <a:latin typeface="Tahoma"/>
                <a:cs typeface="Tahoma"/>
              </a:rPr>
              <a:t>Objective:</a:t>
            </a:r>
            <a:r>
              <a:rPr sz="1000" b="1" spc="9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Zero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Hardware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bus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tracking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system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that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Reduces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Students’ </a:t>
            </a:r>
            <a:r>
              <a:rPr sz="1000" spc="-25" dirty="0">
                <a:latin typeface="Tahoma"/>
                <a:cs typeface="Tahoma"/>
              </a:rPr>
              <a:t>Commute </a:t>
            </a:r>
            <a:r>
              <a:rPr sz="1000" spc="-10" dirty="0">
                <a:latin typeface="Tahoma"/>
                <a:cs typeface="Tahoma"/>
              </a:rPr>
              <a:t>Anxiety.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Proposed</a:t>
            </a:r>
            <a:r>
              <a:rPr spc="-5" dirty="0"/>
              <a:t> </a:t>
            </a:r>
            <a:r>
              <a:rPr spc="-55" dirty="0"/>
              <a:t>Solution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54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pc="-45" dirty="0"/>
              <a:t>Proposed</a:t>
            </a:r>
            <a:r>
              <a:rPr dirty="0"/>
              <a:t> </a:t>
            </a:r>
            <a:r>
              <a:rPr spc="-10" dirty="0"/>
              <a:t>Approach</a:t>
            </a:r>
          </a:p>
          <a:p>
            <a:pPr marL="289560" marR="5080" indent="-160655">
              <a:lnSpc>
                <a:spcPct val="101499"/>
              </a:lnSpc>
              <a:spcBef>
                <a:spcPts val="395"/>
              </a:spcBef>
              <a:buClr>
                <a:srgbClr val="133768"/>
              </a:buClr>
              <a:buAutoNum type="arabicPeriod"/>
              <a:tabLst>
                <a:tab pos="289560" algn="l"/>
              </a:tabLst>
            </a:pPr>
            <a:r>
              <a:rPr b="0" spc="-10" dirty="0">
                <a:solidFill>
                  <a:srgbClr val="000000"/>
                </a:solidFill>
                <a:latin typeface="Tahoma"/>
                <a:cs typeface="Tahoma"/>
              </a:rPr>
              <a:t>Conductor</a:t>
            </a:r>
            <a:r>
              <a:rPr b="0" spc="-3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b="0" spc="-25" dirty="0">
                <a:solidFill>
                  <a:srgbClr val="000000"/>
                </a:solidFill>
                <a:latin typeface="Tahoma"/>
                <a:cs typeface="Tahoma"/>
              </a:rPr>
              <a:t>enters</a:t>
            </a:r>
            <a:r>
              <a:rPr b="0" spc="-3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b="0" dirty="0">
                <a:solidFill>
                  <a:srgbClr val="000000"/>
                </a:solidFill>
                <a:latin typeface="Tahoma"/>
                <a:cs typeface="Tahoma"/>
              </a:rPr>
              <a:t>the</a:t>
            </a:r>
            <a:r>
              <a:rPr b="0" spc="-3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b="0" dirty="0">
                <a:solidFill>
                  <a:srgbClr val="000000"/>
                </a:solidFill>
                <a:latin typeface="Tahoma"/>
                <a:cs typeface="Tahoma"/>
              </a:rPr>
              <a:t>bus’s</a:t>
            </a:r>
            <a:r>
              <a:rPr b="0" spc="-3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b="0" spc="-10" dirty="0">
                <a:solidFill>
                  <a:srgbClr val="000000"/>
                </a:solidFill>
                <a:latin typeface="Tahoma"/>
                <a:cs typeface="Tahoma"/>
              </a:rPr>
              <a:t>current</a:t>
            </a:r>
            <a:r>
              <a:rPr b="0" spc="-3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b="0" dirty="0">
                <a:solidFill>
                  <a:srgbClr val="000000"/>
                </a:solidFill>
                <a:latin typeface="Tahoma"/>
                <a:cs typeface="Tahoma"/>
              </a:rPr>
              <a:t>stop</a:t>
            </a:r>
            <a:r>
              <a:rPr b="0" spc="-2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b="0" spc="-50" dirty="0">
                <a:solidFill>
                  <a:srgbClr val="000000"/>
                </a:solidFill>
                <a:latin typeface="Tahoma"/>
                <a:cs typeface="Tahoma"/>
              </a:rPr>
              <a:t>&amp; </a:t>
            </a:r>
            <a:r>
              <a:rPr b="0" spc="-10" dirty="0">
                <a:solidFill>
                  <a:srgbClr val="000000"/>
                </a:solidFill>
                <a:latin typeface="Tahoma"/>
                <a:cs typeface="Tahoma"/>
              </a:rPr>
              <a:t>seat</a:t>
            </a:r>
            <a:r>
              <a:rPr b="0" spc="-5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b="0" spc="-10" dirty="0">
                <a:solidFill>
                  <a:srgbClr val="000000"/>
                </a:solidFill>
                <a:latin typeface="Tahoma"/>
                <a:cs typeface="Tahoma"/>
              </a:rPr>
              <a:t>status</a:t>
            </a:r>
          </a:p>
          <a:p>
            <a:pPr marL="289560" marR="293370" indent="-160655">
              <a:lnSpc>
                <a:spcPct val="101499"/>
              </a:lnSpc>
              <a:spcBef>
                <a:spcPts val="300"/>
              </a:spcBef>
              <a:buClr>
                <a:srgbClr val="133768"/>
              </a:buClr>
              <a:buAutoNum type="arabicPeriod"/>
              <a:tabLst>
                <a:tab pos="289560" algn="l"/>
              </a:tabLst>
            </a:pPr>
            <a:r>
              <a:rPr b="0" dirty="0">
                <a:solidFill>
                  <a:srgbClr val="000000"/>
                </a:solidFill>
                <a:latin typeface="Tahoma"/>
                <a:cs typeface="Tahoma"/>
              </a:rPr>
              <a:t>Bus</a:t>
            </a:r>
            <a:r>
              <a:rPr b="0" spc="-1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b="0" dirty="0">
                <a:solidFill>
                  <a:srgbClr val="000000"/>
                </a:solidFill>
                <a:latin typeface="Tahoma"/>
                <a:cs typeface="Tahoma"/>
              </a:rPr>
              <a:t>Status</a:t>
            </a:r>
            <a:r>
              <a:rPr b="0" spc="-10" dirty="0">
                <a:solidFill>
                  <a:srgbClr val="000000"/>
                </a:solidFill>
                <a:latin typeface="Tahoma"/>
                <a:cs typeface="Tahoma"/>
              </a:rPr>
              <a:t> Engine </a:t>
            </a:r>
            <a:r>
              <a:rPr b="0" spc="-30" dirty="0">
                <a:solidFill>
                  <a:srgbClr val="000000"/>
                </a:solidFill>
                <a:latin typeface="Tahoma"/>
                <a:cs typeface="Tahoma"/>
              </a:rPr>
              <a:t>compares</a:t>
            </a:r>
            <a:r>
              <a:rPr b="0" spc="-10" dirty="0">
                <a:solidFill>
                  <a:srgbClr val="000000"/>
                </a:solidFill>
                <a:latin typeface="Tahoma"/>
                <a:cs typeface="Tahoma"/>
              </a:rPr>
              <a:t> current </a:t>
            </a:r>
            <a:r>
              <a:rPr b="0" dirty="0">
                <a:solidFill>
                  <a:srgbClr val="000000"/>
                </a:solidFill>
                <a:latin typeface="Tahoma"/>
                <a:cs typeface="Tahoma"/>
              </a:rPr>
              <a:t>position</a:t>
            </a:r>
            <a:r>
              <a:rPr b="0" spc="-2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b="0" dirty="0">
                <a:solidFill>
                  <a:srgbClr val="000000"/>
                </a:solidFill>
                <a:latin typeface="Tahoma"/>
                <a:cs typeface="Tahoma"/>
              </a:rPr>
              <a:t>to</a:t>
            </a:r>
            <a:r>
              <a:rPr b="0" spc="-1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b="0" spc="-25" dirty="0">
                <a:solidFill>
                  <a:srgbClr val="000000"/>
                </a:solidFill>
                <a:latin typeface="Tahoma"/>
                <a:cs typeface="Tahoma"/>
              </a:rPr>
              <a:t>queried</a:t>
            </a:r>
            <a:r>
              <a:rPr b="0" spc="-2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b="0" dirty="0">
                <a:solidFill>
                  <a:srgbClr val="000000"/>
                </a:solidFill>
                <a:latin typeface="Tahoma"/>
                <a:cs typeface="Tahoma"/>
              </a:rPr>
              <a:t>stop</a:t>
            </a:r>
            <a:r>
              <a:rPr b="0" spc="-1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b="0" dirty="0">
                <a:solidFill>
                  <a:srgbClr val="000000"/>
                </a:solidFill>
                <a:latin typeface="Tahoma"/>
                <a:cs typeface="Tahoma"/>
              </a:rPr>
              <a:t>–</a:t>
            </a:r>
            <a:r>
              <a:rPr b="0" spc="-2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b="0" spc="-10" dirty="0">
                <a:solidFill>
                  <a:srgbClr val="000000"/>
                </a:solidFill>
                <a:latin typeface="Tahoma"/>
                <a:cs typeface="Tahoma"/>
              </a:rPr>
              <a:t>simple </a:t>
            </a:r>
            <a:r>
              <a:rPr b="0" spc="-25" dirty="0">
                <a:solidFill>
                  <a:srgbClr val="000000"/>
                </a:solidFill>
                <a:latin typeface="Tahoma"/>
                <a:cs typeface="Tahoma"/>
              </a:rPr>
              <a:t>comparison,</a:t>
            </a:r>
            <a:r>
              <a:rPr b="0" spc="-2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b="0" dirty="0">
                <a:solidFill>
                  <a:srgbClr val="000000"/>
                </a:solidFill>
                <a:latin typeface="Tahoma"/>
                <a:cs typeface="Tahoma"/>
              </a:rPr>
              <a:t>no</a:t>
            </a:r>
            <a:r>
              <a:rPr b="0" spc="-2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b="0" dirty="0">
                <a:solidFill>
                  <a:srgbClr val="000000"/>
                </a:solidFill>
                <a:latin typeface="Tahoma"/>
                <a:cs typeface="Tahoma"/>
              </a:rPr>
              <a:t>live</a:t>
            </a:r>
            <a:r>
              <a:rPr b="0" spc="-1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b="0" spc="-10" dirty="0">
                <a:solidFill>
                  <a:srgbClr val="000000"/>
                </a:solidFill>
                <a:latin typeface="Tahoma"/>
                <a:cs typeface="Tahoma"/>
              </a:rPr>
              <a:t>calculation</a:t>
            </a:r>
          </a:p>
          <a:p>
            <a:pPr marL="289560" marR="106045" indent="-160655">
              <a:lnSpc>
                <a:spcPct val="101499"/>
              </a:lnSpc>
              <a:spcBef>
                <a:spcPts val="300"/>
              </a:spcBef>
              <a:buClr>
                <a:srgbClr val="133768"/>
              </a:buClr>
              <a:buAutoNum type="arabicPeriod"/>
              <a:tabLst>
                <a:tab pos="289560" algn="l"/>
              </a:tabLst>
            </a:pPr>
            <a:r>
              <a:rPr b="0" spc="-20" dirty="0">
                <a:solidFill>
                  <a:srgbClr val="000000"/>
                </a:solidFill>
                <a:latin typeface="Tahoma"/>
                <a:cs typeface="Tahoma"/>
              </a:rPr>
              <a:t>Queue</a:t>
            </a:r>
            <a:r>
              <a:rPr b="0" spc="-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b="0" spc="-20" dirty="0">
                <a:solidFill>
                  <a:srgbClr val="000000"/>
                </a:solidFill>
                <a:latin typeface="Tahoma"/>
                <a:cs typeface="Tahoma"/>
              </a:rPr>
              <a:t>(pending),</a:t>
            </a:r>
            <a:r>
              <a:rPr b="0" dirty="0">
                <a:solidFill>
                  <a:srgbClr val="000000"/>
                </a:solidFill>
                <a:latin typeface="Tahoma"/>
                <a:cs typeface="Tahoma"/>
              </a:rPr>
              <a:t> Stack </a:t>
            </a:r>
            <a:r>
              <a:rPr b="0" spc="-10" dirty="0">
                <a:solidFill>
                  <a:srgbClr val="000000"/>
                </a:solidFill>
                <a:latin typeface="Tahoma"/>
                <a:cs typeface="Tahoma"/>
              </a:rPr>
              <a:t>(undo),</a:t>
            </a:r>
            <a:r>
              <a:rPr b="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b="0" spc="-10" dirty="0">
                <a:solidFill>
                  <a:srgbClr val="000000"/>
                </a:solidFill>
                <a:latin typeface="Tahoma"/>
                <a:cs typeface="Tahoma"/>
              </a:rPr>
              <a:t>Priority </a:t>
            </a:r>
            <a:r>
              <a:rPr b="0" spc="-20" dirty="0">
                <a:solidFill>
                  <a:srgbClr val="000000"/>
                </a:solidFill>
                <a:latin typeface="Tahoma"/>
                <a:cs typeface="Tahoma"/>
              </a:rPr>
              <a:t>Queue</a:t>
            </a:r>
            <a:r>
              <a:rPr b="0" spc="-4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b="0" spc="-10" dirty="0">
                <a:solidFill>
                  <a:srgbClr val="000000"/>
                </a:solidFill>
                <a:latin typeface="Tahoma"/>
                <a:cs typeface="Tahoma"/>
              </a:rPr>
              <a:t>(display</a:t>
            </a:r>
            <a:r>
              <a:rPr b="0" spc="-4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b="0" spc="-20" dirty="0">
                <a:solidFill>
                  <a:srgbClr val="000000"/>
                </a:solidFill>
                <a:latin typeface="Tahoma"/>
                <a:cs typeface="Tahoma"/>
              </a:rPr>
              <a:t>order)</a:t>
            </a:r>
            <a:r>
              <a:rPr b="0" spc="-3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b="0" spc="-10" dirty="0">
                <a:solidFill>
                  <a:srgbClr val="000000"/>
                </a:solidFill>
                <a:latin typeface="Tahoma"/>
                <a:cs typeface="Tahoma"/>
              </a:rPr>
              <a:t>drive</a:t>
            </a:r>
            <a:r>
              <a:rPr b="0" spc="-4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b="0" dirty="0">
                <a:solidFill>
                  <a:srgbClr val="000000"/>
                </a:solidFill>
                <a:latin typeface="Tahoma"/>
                <a:cs typeface="Tahoma"/>
              </a:rPr>
              <a:t>the</a:t>
            </a:r>
            <a:r>
              <a:rPr b="0" spc="-4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b="0" spc="-20" dirty="0">
                <a:solidFill>
                  <a:srgbClr val="000000"/>
                </a:solidFill>
                <a:latin typeface="Tahoma"/>
                <a:cs typeface="Tahoma"/>
              </a:rPr>
              <a:t>flow</a:t>
            </a:r>
          </a:p>
          <a:p>
            <a:pPr marL="289560" marR="329565" indent="-160655">
              <a:lnSpc>
                <a:spcPct val="101499"/>
              </a:lnSpc>
              <a:spcBef>
                <a:spcPts val="295"/>
              </a:spcBef>
              <a:buClr>
                <a:srgbClr val="133768"/>
              </a:buClr>
              <a:buAutoNum type="arabicPeriod"/>
              <a:tabLst>
                <a:tab pos="289560" algn="l"/>
              </a:tabLst>
            </a:pPr>
            <a:r>
              <a:rPr b="0" dirty="0">
                <a:solidFill>
                  <a:srgbClr val="000000"/>
                </a:solidFill>
                <a:latin typeface="Tahoma"/>
                <a:cs typeface="Tahoma"/>
              </a:rPr>
              <a:t>MySQL</a:t>
            </a:r>
            <a:r>
              <a:rPr b="0" spc="1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b="0" spc="-25" dirty="0">
                <a:solidFill>
                  <a:srgbClr val="000000"/>
                </a:solidFill>
                <a:latin typeface="Tahoma"/>
                <a:cs typeface="Tahoma"/>
              </a:rPr>
              <a:t>stores</a:t>
            </a:r>
            <a:r>
              <a:rPr b="0" spc="2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b="0" spc="-10" dirty="0">
                <a:solidFill>
                  <a:srgbClr val="000000"/>
                </a:solidFill>
                <a:latin typeface="Tahoma"/>
                <a:cs typeface="Tahoma"/>
              </a:rPr>
              <a:t>fixed</a:t>
            </a:r>
            <a:r>
              <a:rPr b="0" spc="1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b="0" spc="-20" dirty="0">
                <a:solidFill>
                  <a:srgbClr val="000000"/>
                </a:solidFill>
                <a:latin typeface="Tahoma"/>
                <a:cs typeface="Tahoma"/>
              </a:rPr>
              <a:t>routes,</a:t>
            </a:r>
            <a:r>
              <a:rPr b="0" spc="2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b="0" spc="-10" dirty="0">
                <a:solidFill>
                  <a:srgbClr val="000000"/>
                </a:solidFill>
                <a:latin typeface="Tahoma"/>
                <a:cs typeface="Tahoma"/>
              </a:rPr>
              <a:t>stops</a:t>
            </a:r>
            <a:r>
              <a:rPr b="0" spc="2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b="0" spc="35" dirty="0">
                <a:solidFill>
                  <a:srgbClr val="000000"/>
                </a:solidFill>
                <a:latin typeface="Tahoma"/>
                <a:cs typeface="Tahoma"/>
              </a:rPr>
              <a:t>&amp; </a:t>
            </a:r>
            <a:r>
              <a:rPr b="0" spc="-35" dirty="0">
                <a:solidFill>
                  <a:srgbClr val="000000"/>
                </a:solidFill>
                <a:latin typeface="Tahoma"/>
                <a:cs typeface="Tahoma"/>
              </a:rPr>
              <a:t>predefined</a:t>
            </a:r>
            <a:r>
              <a:rPr b="0" spc="2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b="0" spc="-20" dirty="0">
                <a:solidFill>
                  <a:srgbClr val="000000"/>
                </a:solidFill>
                <a:latin typeface="Tahoma"/>
                <a:cs typeface="Tahoma"/>
              </a:rPr>
              <a:t>ETAs</a:t>
            </a:r>
          </a:p>
          <a:p>
            <a:pPr marL="290195" indent="-161290">
              <a:lnSpc>
                <a:spcPct val="100000"/>
              </a:lnSpc>
              <a:spcBef>
                <a:spcPts val="315"/>
              </a:spcBef>
              <a:buClr>
                <a:srgbClr val="133768"/>
              </a:buClr>
              <a:buAutoNum type="arabicPeriod"/>
              <a:tabLst>
                <a:tab pos="290195" algn="l"/>
              </a:tabLst>
            </a:pPr>
            <a:r>
              <a:rPr b="0" spc="-25" dirty="0">
                <a:solidFill>
                  <a:srgbClr val="000000"/>
                </a:solidFill>
                <a:latin typeface="Tahoma"/>
                <a:cs typeface="Tahoma"/>
              </a:rPr>
              <a:t>Dashboards</a:t>
            </a:r>
            <a:r>
              <a:rPr b="0" spc="-1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b="0" spc="-35" dirty="0">
                <a:solidFill>
                  <a:srgbClr val="000000"/>
                </a:solidFill>
                <a:latin typeface="Tahoma"/>
                <a:cs typeface="Tahoma"/>
              </a:rPr>
              <a:t>show</a:t>
            </a:r>
            <a:r>
              <a:rPr b="0" spc="-1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b="0" dirty="0">
                <a:solidFill>
                  <a:srgbClr val="000000"/>
                </a:solidFill>
                <a:latin typeface="Tahoma"/>
                <a:cs typeface="Tahoma"/>
              </a:rPr>
              <a:t>the</a:t>
            </a:r>
            <a:r>
              <a:rPr b="0" spc="-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b="0" spc="-25" dirty="0">
                <a:solidFill>
                  <a:srgbClr val="000000"/>
                </a:solidFill>
                <a:latin typeface="Tahoma"/>
                <a:cs typeface="Tahoma"/>
              </a:rPr>
              <a:t>color-</a:t>
            </a:r>
            <a:r>
              <a:rPr b="0" spc="-10" dirty="0">
                <a:solidFill>
                  <a:srgbClr val="000000"/>
                </a:solidFill>
                <a:latin typeface="Tahoma"/>
                <a:cs typeface="Tahoma"/>
              </a:rPr>
              <a:t>coded result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spc="-20" dirty="0"/>
              <a:t>5</a:t>
            </a:fld>
            <a:r>
              <a:rPr spc="-20" dirty="0"/>
              <a:t>/10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942717" y="913419"/>
            <a:ext cx="2383155" cy="187325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dirty="0">
                <a:solidFill>
                  <a:srgbClr val="133768"/>
                </a:solidFill>
                <a:latin typeface="Tahoma"/>
                <a:cs typeface="Tahoma"/>
              </a:rPr>
              <a:t>Key</a:t>
            </a:r>
            <a:r>
              <a:rPr sz="1100" b="1" spc="-50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133768"/>
                </a:solidFill>
                <a:latin typeface="Tahoma"/>
                <a:cs typeface="Tahoma"/>
              </a:rPr>
              <a:t>Features</a:t>
            </a:r>
            <a:endParaRPr sz="1100" dirty="0">
              <a:latin typeface="Tahoma"/>
              <a:cs typeface="Tahoma"/>
            </a:endParaRPr>
          </a:p>
          <a:p>
            <a:pPr marL="314960" marR="446405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10" dirty="0">
                <a:latin typeface="Tahoma"/>
                <a:cs typeface="Tahoma"/>
              </a:rPr>
              <a:t>Live,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color-</a:t>
            </a:r>
            <a:r>
              <a:rPr sz="1100" spc="-40" dirty="0">
                <a:latin typeface="Tahoma"/>
                <a:cs typeface="Tahoma"/>
              </a:rPr>
              <a:t>coded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bus </a:t>
            </a:r>
            <a:r>
              <a:rPr sz="1100" spc="-35" dirty="0">
                <a:latin typeface="Tahoma"/>
                <a:cs typeface="Tahoma"/>
              </a:rPr>
              <a:t>status </a:t>
            </a:r>
            <a:r>
              <a:rPr sz="1100" spc="-10" dirty="0">
                <a:latin typeface="Tahoma"/>
                <a:cs typeface="Tahoma"/>
              </a:rPr>
              <a:t>(Green/Blue/Red/Black)</a:t>
            </a:r>
            <a:endParaRPr sz="1100" dirty="0">
              <a:latin typeface="Tahoma"/>
              <a:cs typeface="Tahoma"/>
            </a:endParaRPr>
          </a:p>
          <a:p>
            <a:pPr marL="314960" marR="30480" indent="-177165">
              <a:lnSpc>
                <a:spcPct val="102600"/>
              </a:lnSpc>
              <a:spcBef>
                <a:spcPts val="1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20" dirty="0">
                <a:latin typeface="Tahoma"/>
                <a:cs typeface="Tahoma"/>
              </a:rPr>
              <a:t>Fixed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routes,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static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pre-</a:t>
            </a:r>
            <a:r>
              <a:rPr sz="1100" spc="-55" dirty="0">
                <a:latin typeface="Tahoma"/>
                <a:cs typeface="Tahoma"/>
              </a:rPr>
              <a:t>stored</a:t>
            </a:r>
            <a:r>
              <a:rPr sz="1100" spc="-25" dirty="0">
                <a:latin typeface="Tahoma"/>
                <a:cs typeface="Tahoma"/>
              </a:rPr>
              <a:t> ETA </a:t>
            </a:r>
            <a:r>
              <a:rPr sz="1100" spc="-10" dirty="0">
                <a:latin typeface="Tahoma"/>
                <a:cs typeface="Tahoma"/>
              </a:rPr>
              <a:t>(no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live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ETA</a:t>
            </a:r>
            <a:r>
              <a:rPr sz="1100" spc="-20" dirty="0">
                <a:latin typeface="Tahoma"/>
                <a:cs typeface="Tahoma"/>
              </a:rPr>
              <a:t> math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(for now))</a:t>
            </a:r>
            <a:endParaRPr sz="1100" dirty="0"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13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20" dirty="0">
                <a:latin typeface="Tahoma"/>
                <a:cs typeface="Tahoma"/>
              </a:rPr>
              <a:t>Simple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conductor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update </a:t>
            </a:r>
            <a:r>
              <a:rPr sz="1100" spc="-20" dirty="0">
                <a:latin typeface="Tahoma"/>
                <a:cs typeface="Tahoma"/>
              </a:rPr>
              <a:t>flow</a:t>
            </a:r>
            <a:endParaRPr sz="1100" dirty="0">
              <a:latin typeface="Tahoma"/>
              <a:cs typeface="Tahoma"/>
            </a:endParaRPr>
          </a:p>
          <a:p>
            <a:pPr marL="314960" marR="368300" indent="-177165">
              <a:lnSpc>
                <a:spcPct val="102699"/>
              </a:lnSpc>
              <a:spcBef>
                <a:spcPts val="9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20" dirty="0">
                <a:latin typeface="Tahoma"/>
                <a:cs typeface="Tahoma"/>
              </a:rPr>
              <a:t>Three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role-</a:t>
            </a:r>
            <a:r>
              <a:rPr sz="1100" spc="-60" dirty="0">
                <a:latin typeface="Tahoma"/>
                <a:cs typeface="Tahoma"/>
              </a:rPr>
              <a:t>based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dashboards: </a:t>
            </a:r>
            <a:r>
              <a:rPr sz="1100" spc="-25" dirty="0">
                <a:latin typeface="Tahoma"/>
                <a:cs typeface="Tahoma"/>
              </a:rPr>
              <a:t>Student,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Conductor,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HOD</a:t>
            </a:r>
            <a:endParaRPr sz="1100" dirty="0">
              <a:latin typeface="Tahoma"/>
              <a:cs typeface="Tahoma"/>
            </a:endParaRPr>
          </a:p>
          <a:p>
            <a:pPr marL="314960" marR="186690" indent="-177165">
              <a:lnSpc>
                <a:spcPct val="102600"/>
              </a:lnSpc>
              <a:spcBef>
                <a:spcPts val="1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30" dirty="0">
                <a:latin typeface="Tahoma"/>
                <a:cs typeface="Tahoma"/>
              </a:rPr>
              <a:t>Reports </a:t>
            </a:r>
            <a:r>
              <a:rPr sz="1100" spc="85" dirty="0">
                <a:latin typeface="Tahoma"/>
                <a:cs typeface="Tahoma"/>
              </a:rPr>
              <a:t>&amp;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statistics</a:t>
            </a:r>
            <a:r>
              <a:rPr sz="1100" spc="-30" dirty="0">
                <a:latin typeface="Tahoma"/>
                <a:cs typeface="Tahoma"/>
              </a:rPr>
              <a:t> view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the </a:t>
            </a:r>
            <a:r>
              <a:rPr sz="1100" spc="-10" dirty="0">
                <a:latin typeface="Tahoma"/>
                <a:cs typeface="Tahoma"/>
              </a:rPr>
              <a:t>Supervisors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7294" y="2725458"/>
            <a:ext cx="4639310" cy="369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1100"/>
              </a:lnSpc>
              <a:spcBef>
                <a:spcPts val="100"/>
              </a:spcBef>
            </a:pPr>
            <a:r>
              <a:rPr sz="800" spc="-10" dirty="0">
                <a:solidFill>
                  <a:srgbClr val="595959"/>
                </a:solidFill>
                <a:latin typeface="Arial MT"/>
                <a:cs typeface="Arial MT"/>
              </a:rPr>
              <a:t>Routes</a:t>
            </a:r>
            <a:r>
              <a:rPr sz="800" spc="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sz="8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95959"/>
                </a:solidFill>
                <a:latin typeface="Arial MT"/>
                <a:cs typeface="Arial MT"/>
              </a:rPr>
              <a:t>ETAs</a:t>
            </a:r>
            <a:r>
              <a:rPr sz="8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595959"/>
                </a:solidFill>
                <a:latin typeface="Arial MT"/>
                <a:cs typeface="Arial MT"/>
              </a:rPr>
              <a:t>are</a:t>
            </a:r>
            <a:r>
              <a:rPr sz="800" spc="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95959"/>
                </a:solidFill>
                <a:latin typeface="Arial MT"/>
                <a:cs typeface="Arial MT"/>
              </a:rPr>
              <a:t>fixed/pre-</a:t>
            </a:r>
            <a:r>
              <a:rPr sz="800" spc="-10" dirty="0">
                <a:solidFill>
                  <a:srgbClr val="595959"/>
                </a:solidFill>
                <a:latin typeface="Arial MT"/>
                <a:cs typeface="Arial MT"/>
              </a:rPr>
              <a:t>stored,</a:t>
            </a:r>
            <a:r>
              <a:rPr sz="8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595959"/>
                </a:solidFill>
                <a:latin typeface="Arial MT"/>
                <a:cs typeface="Arial MT"/>
              </a:rPr>
              <a:t>so</a:t>
            </a:r>
            <a:r>
              <a:rPr sz="8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95959"/>
                </a:solidFill>
                <a:latin typeface="Arial MT"/>
                <a:cs typeface="Arial MT"/>
              </a:rPr>
              <a:t>effort</a:t>
            </a:r>
            <a:r>
              <a:rPr sz="800" spc="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595959"/>
                </a:solidFill>
                <a:latin typeface="Arial MT"/>
                <a:cs typeface="Arial MT"/>
              </a:rPr>
              <a:t>focuses</a:t>
            </a:r>
            <a:r>
              <a:rPr sz="8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95959"/>
                </a:solidFill>
                <a:latin typeface="Arial MT"/>
                <a:cs typeface="Arial MT"/>
              </a:rPr>
              <a:t>on</a:t>
            </a:r>
            <a:r>
              <a:rPr sz="8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95959"/>
                </a:solidFill>
                <a:latin typeface="Arial MT"/>
                <a:cs typeface="Arial MT"/>
              </a:rPr>
              <a:t>reliably</a:t>
            </a:r>
            <a:r>
              <a:rPr sz="8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95959"/>
                </a:solidFill>
                <a:latin typeface="Arial MT"/>
                <a:cs typeface="Arial MT"/>
              </a:rPr>
              <a:t>tracking/displaying</a:t>
            </a:r>
            <a:r>
              <a:rPr sz="800" spc="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95959"/>
                </a:solidFill>
                <a:latin typeface="Arial MT"/>
                <a:cs typeface="Arial MT"/>
              </a:rPr>
              <a:t>status</a:t>
            </a:r>
            <a:r>
              <a:rPr sz="8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95959"/>
                </a:solidFill>
                <a:latin typeface="Arial MT"/>
                <a:cs typeface="Arial MT"/>
              </a:rPr>
              <a:t>;</a:t>
            </a:r>
            <a:r>
              <a:rPr sz="8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95959"/>
                </a:solidFill>
                <a:latin typeface="Arial MT"/>
                <a:cs typeface="Arial MT"/>
              </a:rPr>
              <a:t>not</a:t>
            </a:r>
            <a:r>
              <a:rPr sz="800" spc="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595959"/>
                </a:solidFill>
                <a:latin typeface="Arial MT"/>
                <a:cs typeface="Arial MT"/>
              </a:rPr>
              <a:t>live </a:t>
            </a:r>
            <a:r>
              <a:rPr sz="800" dirty="0">
                <a:solidFill>
                  <a:srgbClr val="595959"/>
                </a:solidFill>
                <a:latin typeface="Arial MT"/>
                <a:cs typeface="Arial MT"/>
              </a:rPr>
              <a:t>pathfinding</a:t>
            </a:r>
            <a:r>
              <a:rPr sz="800" spc="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95959"/>
                </a:solidFill>
                <a:latin typeface="Arial MT"/>
                <a:cs typeface="Arial MT"/>
              </a:rPr>
              <a:t>or</a:t>
            </a:r>
            <a:r>
              <a:rPr sz="800" spc="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95959"/>
                </a:solidFill>
                <a:latin typeface="Arial MT"/>
                <a:cs typeface="Arial MT"/>
              </a:rPr>
              <a:t>ETA</a:t>
            </a:r>
            <a:r>
              <a:rPr sz="800" spc="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595959"/>
                </a:solidFill>
                <a:latin typeface="Arial MT"/>
                <a:cs typeface="Arial MT"/>
              </a:rPr>
              <a:t>math.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302841"/>
            <a:ext cx="30714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80" dirty="0"/>
              <a:t>Integration</a:t>
            </a:r>
            <a:r>
              <a:rPr spc="2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60" dirty="0"/>
              <a:t>PBL</a:t>
            </a:r>
            <a:r>
              <a:rPr spc="25" dirty="0"/>
              <a:t> </a:t>
            </a:r>
            <a:r>
              <a:rPr spc="-50" dirty="0"/>
              <a:t>Course</a:t>
            </a:r>
            <a:r>
              <a:rPr spc="25" dirty="0"/>
              <a:t> </a:t>
            </a:r>
            <a:r>
              <a:rPr spc="-35" dirty="0"/>
              <a:t>Concepts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60781" y="970533"/>
            <a:ext cx="4838700" cy="0"/>
          </a:xfrm>
          <a:custGeom>
            <a:avLst/>
            <a:gdLst/>
            <a:ahLst/>
            <a:cxnLst/>
            <a:rect l="l" t="t" r="r" b="b"/>
            <a:pathLst>
              <a:path w="4838700">
                <a:moveTo>
                  <a:pt x="0" y="0"/>
                </a:moveTo>
                <a:lnTo>
                  <a:pt x="4838433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48081" y="1007350"/>
            <a:ext cx="341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latin typeface="Tahoma"/>
                <a:cs typeface="Tahoma"/>
              </a:rPr>
              <a:t>Course</a:t>
            </a:r>
            <a:endParaRPr sz="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79891" y="1007350"/>
            <a:ext cx="8083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0" dirty="0">
                <a:latin typeface="Arial MT"/>
                <a:cs typeface="Arial MT"/>
              </a:rPr>
              <a:t>Concepts</a:t>
            </a:r>
            <a:r>
              <a:rPr sz="800" spc="1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Applied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86582" y="1007350"/>
            <a:ext cx="7188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latin typeface="Arial MT"/>
                <a:cs typeface="Arial MT"/>
              </a:rPr>
              <a:t>Project</a:t>
            </a:r>
            <a:r>
              <a:rPr sz="800" spc="8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Module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0781" y="1194434"/>
            <a:ext cx="4838700" cy="0"/>
          </a:xfrm>
          <a:custGeom>
            <a:avLst/>
            <a:gdLst/>
            <a:ahLst/>
            <a:cxnLst/>
            <a:rect l="l" t="t" r="r" b="b"/>
            <a:pathLst>
              <a:path w="4838700">
                <a:moveTo>
                  <a:pt x="0" y="0"/>
                </a:moveTo>
                <a:lnTo>
                  <a:pt x="4838433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48081" y="1229180"/>
            <a:ext cx="87693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  <a:tabLst>
                <a:tab pos="386715" algn="l"/>
              </a:tabLst>
            </a:pPr>
            <a:r>
              <a:rPr sz="800" b="1" spc="-20" dirty="0">
                <a:latin typeface="Tahoma"/>
                <a:cs typeface="Tahoma"/>
              </a:rPr>
              <a:t>Data</a:t>
            </a:r>
            <a:r>
              <a:rPr sz="800" b="1" dirty="0">
                <a:latin typeface="Tahoma"/>
                <a:cs typeface="Tahoma"/>
              </a:rPr>
              <a:t>	</a:t>
            </a:r>
            <a:r>
              <a:rPr sz="800" b="1" spc="-60" dirty="0">
                <a:latin typeface="Tahoma"/>
                <a:cs typeface="Tahoma"/>
              </a:rPr>
              <a:t>Structures</a:t>
            </a:r>
            <a:r>
              <a:rPr sz="800" b="1" spc="-25" dirty="0">
                <a:latin typeface="Tahoma"/>
                <a:cs typeface="Tahoma"/>
              </a:rPr>
              <a:t> C++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45809" y="1229180"/>
            <a:ext cx="2814320" cy="8985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46379" marR="5080" indent="-234315" algn="just">
              <a:lnSpc>
                <a:spcPts val="950"/>
              </a:lnSpc>
              <a:spcBef>
                <a:spcPts val="135"/>
              </a:spcBef>
            </a:pPr>
            <a:r>
              <a:rPr sz="800" b="1" dirty="0">
                <a:latin typeface="Tahoma"/>
                <a:cs typeface="Tahoma"/>
              </a:rPr>
              <a:t>in</a:t>
            </a:r>
            <a:r>
              <a:rPr sz="800" b="1" spc="290" dirty="0">
                <a:latin typeface="Tahoma"/>
                <a:cs typeface="Tahoma"/>
              </a:rPr>
              <a:t>  </a:t>
            </a:r>
            <a:r>
              <a:rPr sz="800" dirty="0">
                <a:latin typeface="Arial MT"/>
                <a:cs typeface="Arial MT"/>
              </a:rPr>
              <a:t>Linked</a:t>
            </a:r>
            <a:r>
              <a:rPr sz="800" spc="4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List</a:t>
            </a:r>
            <a:r>
              <a:rPr sz="800" spc="4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(route</a:t>
            </a:r>
            <a:r>
              <a:rPr sz="800" spc="4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stop</a:t>
            </a:r>
            <a:r>
              <a:rPr sz="800" spc="4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sequence),</a:t>
            </a:r>
            <a:r>
              <a:rPr sz="800" spc="50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Queue</a:t>
            </a:r>
            <a:r>
              <a:rPr sz="800" spc="43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(pend-</a:t>
            </a:r>
            <a:r>
              <a:rPr sz="800" dirty="0">
                <a:latin typeface="Arial MT"/>
                <a:cs typeface="Arial MT"/>
              </a:rPr>
              <a:t>ing</a:t>
            </a:r>
            <a:r>
              <a:rPr sz="800" spc="4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updates),</a:t>
            </a:r>
            <a:r>
              <a:rPr sz="800" spc="140" dirty="0">
                <a:latin typeface="Arial MT"/>
                <a:cs typeface="Arial MT"/>
              </a:rPr>
              <a:t>  </a:t>
            </a:r>
            <a:r>
              <a:rPr sz="800" dirty="0">
                <a:latin typeface="Arial MT"/>
                <a:cs typeface="Arial MT"/>
              </a:rPr>
              <a:t>Stack</a:t>
            </a:r>
            <a:r>
              <a:rPr sz="800" spc="4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(update</a:t>
            </a:r>
            <a:r>
              <a:rPr sz="800" spc="4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history/undo),</a:t>
            </a:r>
            <a:r>
              <a:rPr sz="800" spc="140" dirty="0">
                <a:latin typeface="Arial MT"/>
                <a:cs typeface="Arial MT"/>
              </a:rPr>
              <a:t>  </a:t>
            </a:r>
            <a:r>
              <a:rPr sz="800" spc="-10" dirty="0">
                <a:latin typeface="Arial MT"/>
                <a:cs typeface="Arial MT"/>
              </a:rPr>
              <a:t>Priority </a:t>
            </a:r>
            <a:r>
              <a:rPr sz="800" dirty="0">
                <a:latin typeface="Arial MT"/>
                <a:cs typeface="Arial MT"/>
              </a:rPr>
              <a:t>Queue/Heap</a:t>
            </a:r>
            <a:r>
              <a:rPr sz="800" spc="29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(bus</a:t>
            </a:r>
            <a:r>
              <a:rPr sz="800" spc="29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display</a:t>
            </a:r>
            <a:r>
              <a:rPr sz="800" spc="29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order),</a:t>
            </a:r>
            <a:r>
              <a:rPr sz="800" spc="36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Hash</a:t>
            </a:r>
            <a:r>
              <a:rPr sz="800" spc="29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Table</a:t>
            </a:r>
            <a:r>
              <a:rPr sz="800" spc="29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(O(1) </a:t>
            </a:r>
            <a:r>
              <a:rPr sz="800" dirty="0">
                <a:latin typeface="Arial MT"/>
                <a:cs typeface="Arial MT"/>
              </a:rPr>
              <a:t>bus/route</a:t>
            </a:r>
            <a:r>
              <a:rPr sz="800" spc="1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lookup)</a:t>
            </a:r>
            <a:endParaRPr sz="800">
              <a:latin typeface="Arial MT"/>
              <a:cs typeface="Arial MT"/>
            </a:endParaRPr>
          </a:p>
          <a:p>
            <a:pPr marL="246379" marR="5080" algn="just">
              <a:lnSpc>
                <a:spcPts val="950"/>
              </a:lnSpc>
              <a:spcBef>
                <a:spcPts val="225"/>
              </a:spcBef>
            </a:pPr>
            <a:r>
              <a:rPr sz="800" spc="-60" dirty="0">
                <a:latin typeface="Arial MT"/>
                <a:cs typeface="Arial MT"/>
              </a:rPr>
              <a:t>Classes</a:t>
            </a:r>
            <a:r>
              <a:rPr sz="800" dirty="0">
                <a:latin typeface="Arial MT"/>
                <a:cs typeface="Arial MT"/>
              </a:rPr>
              <a:t> (Stop,</a:t>
            </a:r>
            <a:r>
              <a:rPr sz="800" spc="-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Route, Bus, User), </a:t>
            </a:r>
            <a:r>
              <a:rPr sz="800" spc="-10" dirty="0">
                <a:latin typeface="Arial MT"/>
                <a:cs typeface="Arial MT"/>
              </a:rPr>
              <a:t>Inheritance </a:t>
            </a:r>
            <a:r>
              <a:rPr sz="800" spc="100" dirty="0">
                <a:latin typeface="Arial MT"/>
                <a:cs typeface="Arial MT"/>
              </a:rPr>
              <a:t>&amp;</a:t>
            </a:r>
            <a:r>
              <a:rPr sz="800" spc="-10" dirty="0">
                <a:latin typeface="Arial MT"/>
                <a:cs typeface="Arial MT"/>
              </a:rPr>
              <a:t> Polymor-</a:t>
            </a:r>
            <a:r>
              <a:rPr sz="800" dirty="0">
                <a:latin typeface="Arial MT"/>
                <a:cs typeface="Arial MT"/>
              </a:rPr>
              <a:t>phism</a:t>
            </a:r>
            <a:r>
              <a:rPr sz="800" spc="2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(User</a:t>
            </a:r>
            <a:r>
              <a:rPr sz="800" spc="229" dirty="0">
                <a:latin typeface="Arial MT"/>
                <a:cs typeface="Arial MT"/>
              </a:rPr>
              <a:t> </a:t>
            </a:r>
            <a:r>
              <a:rPr sz="800" i="1" dirty="0">
                <a:latin typeface="Arial"/>
                <a:cs typeface="Arial"/>
              </a:rPr>
              <a:t>→</a:t>
            </a:r>
            <a:r>
              <a:rPr sz="800" i="1" spc="225" dirty="0">
                <a:latin typeface="Arial"/>
                <a:cs typeface="Arial"/>
              </a:rPr>
              <a:t> </a:t>
            </a:r>
            <a:r>
              <a:rPr sz="800" spc="-10" dirty="0">
                <a:latin typeface="Arial MT"/>
                <a:cs typeface="Arial MT"/>
              </a:rPr>
              <a:t>Student/Conductor/DepartmentHead), Encapsulation,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one</a:t>
            </a:r>
            <a:r>
              <a:rPr sz="800" dirty="0">
                <a:latin typeface="Arial MT"/>
                <a:cs typeface="Arial MT"/>
              </a:rPr>
              <a:t> Operator </a:t>
            </a:r>
            <a:r>
              <a:rPr sz="800" spc="-10" dirty="0">
                <a:latin typeface="Arial MT"/>
                <a:cs typeface="Arial MT"/>
              </a:rPr>
              <a:t>Overload,</a:t>
            </a:r>
            <a:r>
              <a:rPr sz="80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one</a:t>
            </a:r>
            <a:r>
              <a:rPr sz="80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Template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86516" y="1229180"/>
            <a:ext cx="925194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dirty="0">
                <a:latin typeface="Arial MT"/>
                <a:cs typeface="Arial MT"/>
              </a:rPr>
              <a:t>Bus</a:t>
            </a:r>
            <a:r>
              <a:rPr sz="800" spc="28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Status</a:t>
            </a:r>
            <a:r>
              <a:rPr sz="800" spc="285" dirty="0">
                <a:latin typeface="Arial MT"/>
                <a:cs typeface="Arial MT"/>
              </a:rPr>
              <a:t> </a:t>
            </a:r>
            <a:r>
              <a:rPr sz="800" spc="-35" dirty="0">
                <a:latin typeface="Arial MT"/>
                <a:cs typeface="Arial MT"/>
              </a:rPr>
              <a:t>Engine</a:t>
            </a:r>
            <a:r>
              <a:rPr sz="800" spc="100" dirty="0">
                <a:latin typeface="Arial MT"/>
                <a:cs typeface="Arial MT"/>
              </a:rPr>
              <a:t> &amp;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Core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Data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Layer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8081" y="1740025"/>
            <a:ext cx="8178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dirty="0">
                <a:latin typeface="Tahoma"/>
                <a:cs typeface="Tahoma"/>
              </a:rPr>
              <a:t>OOPs</a:t>
            </a:r>
            <a:r>
              <a:rPr sz="800" b="1" spc="25" dirty="0">
                <a:latin typeface="Tahoma"/>
                <a:cs typeface="Tahoma"/>
              </a:rPr>
              <a:t> </a:t>
            </a:r>
            <a:r>
              <a:rPr sz="800" b="1" spc="-55" dirty="0">
                <a:latin typeface="Tahoma"/>
                <a:cs typeface="Tahoma"/>
              </a:rPr>
              <a:t>with</a:t>
            </a:r>
            <a:r>
              <a:rPr sz="800" b="1" spc="30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C++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86516" y="1740025"/>
            <a:ext cx="92583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dirty="0">
                <a:latin typeface="Arial MT"/>
                <a:cs typeface="Arial MT"/>
              </a:rPr>
              <a:t>Class</a:t>
            </a:r>
            <a:r>
              <a:rPr sz="800" spc="37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Hierarchy</a:t>
            </a:r>
            <a:r>
              <a:rPr sz="800" spc="375" dirty="0">
                <a:latin typeface="Arial MT"/>
                <a:cs typeface="Arial MT"/>
              </a:rPr>
              <a:t> </a:t>
            </a:r>
            <a:r>
              <a:rPr sz="800" spc="145" dirty="0">
                <a:latin typeface="Arial MT"/>
                <a:cs typeface="Arial MT"/>
              </a:rPr>
              <a:t>/ </a:t>
            </a:r>
            <a:r>
              <a:rPr sz="800" dirty="0">
                <a:latin typeface="Arial MT"/>
                <a:cs typeface="Arial MT"/>
              </a:rPr>
              <a:t>OOP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Layer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60781" y="2167508"/>
            <a:ext cx="4838700" cy="0"/>
          </a:xfrm>
          <a:custGeom>
            <a:avLst/>
            <a:gdLst/>
            <a:ahLst/>
            <a:cxnLst/>
            <a:rect l="l" t="t" r="r" b="b"/>
            <a:pathLst>
              <a:path w="4838700">
                <a:moveTo>
                  <a:pt x="0" y="0"/>
                </a:moveTo>
                <a:lnTo>
                  <a:pt x="4838433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48081" y="2202254"/>
            <a:ext cx="3409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latin typeface="Tahoma"/>
                <a:cs typeface="Tahoma"/>
              </a:rPr>
              <a:t>DBMS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79770" y="2202254"/>
            <a:ext cx="2580640" cy="387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-635" algn="just">
              <a:lnSpc>
                <a:spcPts val="950"/>
              </a:lnSpc>
              <a:spcBef>
                <a:spcPts val="135"/>
              </a:spcBef>
            </a:pPr>
            <a:r>
              <a:rPr sz="800" spc="-35" dirty="0">
                <a:latin typeface="Arial MT"/>
                <a:cs typeface="Arial MT"/>
              </a:rPr>
              <a:t>Schema</a:t>
            </a:r>
            <a:r>
              <a:rPr sz="800" spc="-10" dirty="0">
                <a:latin typeface="Arial MT"/>
                <a:cs typeface="Arial MT"/>
              </a:rPr>
              <a:t> </a:t>
            </a:r>
            <a:r>
              <a:rPr sz="800" spc="-30" dirty="0">
                <a:latin typeface="Arial MT"/>
                <a:cs typeface="Arial MT"/>
              </a:rPr>
              <a:t>design</a:t>
            </a:r>
            <a:r>
              <a:rPr sz="800" spc="-10" dirty="0">
                <a:latin typeface="Arial MT"/>
                <a:cs typeface="Arial MT"/>
              </a:rPr>
              <a:t> (Buses,</a:t>
            </a:r>
            <a:r>
              <a:rPr sz="800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Routes,</a:t>
            </a:r>
            <a:r>
              <a:rPr sz="80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Stops,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RouteStops,</a:t>
            </a:r>
            <a:r>
              <a:rPr sz="80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Trips, </a:t>
            </a:r>
            <a:r>
              <a:rPr sz="800" dirty="0">
                <a:latin typeface="Arial MT"/>
                <a:cs typeface="Arial MT"/>
              </a:rPr>
              <a:t>Users,</a:t>
            </a:r>
            <a:r>
              <a:rPr sz="800" spc="3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Updates);</a:t>
            </a:r>
            <a:r>
              <a:rPr sz="800" spc="37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predefined</a:t>
            </a:r>
            <a:r>
              <a:rPr sz="800" spc="26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stop/distance/ETA</a:t>
            </a:r>
            <a:r>
              <a:rPr sz="800" spc="254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data; </a:t>
            </a:r>
            <a:r>
              <a:rPr sz="800" spc="114" dirty="0">
                <a:latin typeface="Arial MT"/>
                <a:cs typeface="Arial MT"/>
              </a:rPr>
              <a:t>C++</a:t>
            </a:r>
            <a:r>
              <a:rPr sz="800" spc="70" dirty="0">
                <a:latin typeface="Arial MT"/>
                <a:cs typeface="Arial MT"/>
              </a:rPr>
              <a:t> </a:t>
            </a:r>
            <a:r>
              <a:rPr sz="800" i="1" dirty="0">
                <a:latin typeface="Arial"/>
                <a:cs typeface="Arial"/>
              </a:rPr>
              <a:t>↔</a:t>
            </a:r>
            <a:r>
              <a:rPr sz="800" i="1" spc="75" dirty="0">
                <a:latin typeface="Arial"/>
                <a:cs typeface="Arial"/>
              </a:rPr>
              <a:t> </a:t>
            </a:r>
            <a:r>
              <a:rPr sz="800" dirty="0">
                <a:latin typeface="Arial MT"/>
                <a:cs typeface="Arial MT"/>
              </a:rPr>
              <a:t>MySQL</a:t>
            </a:r>
            <a:r>
              <a:rPr sz="800" spc="7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connectivity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86516" y="2202254"/>
            <a:ext cx="7156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0" dirty="0">
                <a:latin typeface="Arial MT"/>
                <a:cs typeface="Arial MT"/>
              </a:rPr>
              <a:t>Database</a:t>
            </a:r>
            <a:r>
              <a:rPr sz="800" spc="10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Layer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60781" y="2631820"/>
            <a:ext cx="4838700" cy="0"/>
          </a:xfrm>
          <a:custGeom>
            <a:avLst/>
            <a:gdLst/>
            <a:ahLst/>
            <a:cxnLst/>
            <a:rect l="l" t="t" r="r" b="b"/>
            <a:pathLst>
              <a:path w="4838700">
                <a:moveTo>
                  <a:pt x="0" y="0"/>
                </a:moveTo>
                <a:lnTo>
                  <a:pt x="4838433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74839" y="2751239"/>
            <a:ext cx="4410710" cy="406400"/>
          </a:xfrm>
          <a:prstGeom prst="rect">
            <a:avLst/>
          </a:prstGeom>
          <a:solidFill>
            <a:srgbClr val="EDF3FA"/>
          </a:solidFill>
        </p:spPr>
        <p:txBody>
          <a:bodyPr vert="horz" wrap="square" lIns="0" tIns="11430" rIns="0" bIns="0" rtlCol="0">
            <a:spAutoFit/>
          </a:bodyPr>
          <a:lstStyle/>
          <a:p>
            <a:pPr marL="78740" marR="72390" indent="635" algn="ctr">
              <a:lnSpc>
                <a:spcPts val="950"/>
              </a:lnSpc>
              <a:spcBef>
                <a:spcPts val="90"/>
              </a:spcBef>
            </a:pPr>
            <a:r>
              <a:rPr sz="800" b="1" spc="-50" dirty="0">
                <a:latin typeface="Tahoma"/>
                <a:cs typeface="Tahoma"/>
              </a:rPr>
              <a:t>Requirement:</a:t>
            </a:r>
            <a:r>
              <a:rPr sz="800" b="1" spc="130" dirty="0">
                <a:latin typeface="Tahoma"/>
                <a:cs typeface="Tahoma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project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incorporates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OOP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to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structure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core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transit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entities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into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modular </a:t>
            </a:r>
            <a:r>
              <a:rPr sz="800" spc="114" dirty="0">
                <a:latin typeface="Arial MT"/>
                <a:cs typeface="Arial MT"/>
              </a:rPr>
              <a:t>C++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spc="-45" dirty="0">
                <a:latin typeface="Arial MT"/>
                <a:cs typeface="Arial MT"/>
              </a:rPr>
              <a:t>classes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while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also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utilizing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data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structures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to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enable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spc="-30" dirty="0">
                <a:latin typeface="Arial MT"/>
                <a:cs typeface="Arial MT"/>
              </a:rPr>
              <a:t>hardware-</a:t>
            </a:r>
            <a:r>
              <a:rPr sz="800" spc="-10" dirty="0">
                <a:latin typeface="Arial MT"/>
                <a:cs typeface="Arial MT"/>
              </a:rPr>
              <a:t>independent,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real-</a:t>
            </a:r>
            <a:r>
              <a:rPr sz="800" dirty="0">
                <a:latin typeface="Arial MT"/>
                <a:cs typeface="Arial MT"/>
              </a:rPr>
              <a:t>time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bus</a:t>
            </a:r>
            <a:r>
              <a:rPr sz="800" spc="-10" dirty="0">
                <a:latin typeface="Arial MT"/>
                <a:cs typeface="Arial MT"/>
              </a:rPr>
              <a:t> tracking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spc="-20" dirty="0"/>
              <a:t>6</a:t>
            </a:fld>
            <a:r>
              <a:rPr spc="-20" dirty="0"/>
              <a:t>/10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System</a:t>
            </a:r>
            <a:r>
              <a:rPr spc="25" dirty="0"/>
              <a:t> </a:t>
            </a:r>
            <a:r>
              <a:rPr spc="-50" dirty="0"/>
              <a:t>Architecture</a:t>
            </a:r>
            <a:r>
              <a:rPr spc="30" dirty="0"/>
              <a:t> </a:t>
            </a:r>
            <a:r>
              <a:rPr dirty="0"/>
              <a:t>/</a:t>
            </a:r>
            <a:r>
              <a:rPr spc="30" dirty="0"/>
              <a:t> </a:t>
            </a:r>
            <a:r>
              <a:rPr spc="-70" dirty="0"/>
              <a:t>Workflow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59984" y="1140566"/>
            <a:ext cx="779145" cy="361950"/>
            <a:chOff x="359984" y="1140566"/>
            <a:chExt cx="779145" cy="361950"/>
          </a:xfrm>
        </p:grpSpPr>
        <p:sp>
          <p:nvSpPr>
            <p:cNvPr id="5" name="object 5"/>
            <p:cNvSpPr/>
            <p:nvPr/>
          </p:nvSpPr>
          <p:spPr>
            <a:xfrm>
              <a:off x="362524" y="1143106"/>
              <a:ext cx="774065" cy="356870"/>
            </a:xfrm>
            <a:custGeom>
              <a:avLst/>
              <a:gdLst/>
              <a:ahLst/>
              <a:cxnLst/>
              <a:rect l="l" t="t" r="r" b="b"/>
              <a:pathLst>
                <a:path w="774065" h="356869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23396" y="356656"/>
                  </a:lnTo>
                  <a:lnTo>
                    <a:pt x="743096" y="352678"/>
                  </a:lnTo>
                  <a:lnTo>
                    <a:pt x="759183" y="341832"/>
                  </a:lnTo>
                  <a:lnTo>
                    <a:pt x="770030" y="325745"/>
                  </a:lnTo>
                  <a:lnTo>
                    <a:pt x="774007" y="306045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3" y="14823"/>
                  </a:lnTo>
                  <a:lnTo>
                    <a:pt x="743096" y="3977"/>
                  </a:lnTo>
                  <a:lnTo>
                    <a:pt x="72339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2524" y="1143106"/>
              <a:ext cx="774065" cy="356870"/>
            </a:xfrm>
            <a:custGeom>
              <a:avLst/>
              <a:gdLst/>
              <a:ahLst/>
              <a:cxnLst/>
              <a:rect l="l" t="t" r="r" b="b"/>
              <a:pathLst>
                <a:path w="774065" h="356869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23396" y="356656"/>
                  </a:lnTo>
                  <a:lnTo>
                    <a:pt x="743096" y="352678"/>
                  </a:lnTo>
                  <a:lnTo>
                    <a:pt x="759183" y="341832"/>
                  </a:lnTo>
                  <a:lnTo>
                    <a:pt x="770030" y="325745"/>
                  </a:lnTo>
                  <a:lnTo>
                    <a:pt x="774007" y="306045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3" y="14823"/>
                  </a:lnTo>
                  <a:lnTo>
                    <a:pt x="743096" y="3977"/>
                  </a:lnTo>
                  <a:lnTo>
                    <a:pt x="723396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64273" y="1137925"/>
            <a:ext cx="57023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2710" marR="5080" indent="-80645">
              <a:lnSpc>
                <a:spcPct val="100000"/>
              </a:lnSpc>
              <a:spcBef>
                <a:spcPts val="95"/>
              </a:spcBef>
            </a:pPr>
            <a:r>
              <a:rPr sz="1000" spc="-35" dirty="0">
                <a:latin typeface="Tahoma"/>
                <a:cs typeface="Tahoma"/>
              </a:rPr>
              <a:t>Conductor </a:t>
            </a:r>
            <a:r>
              <a:rPr sz="1000" spc="-10" dirty="0">
                <a:latin typeface="Tahoma"/>
                <a:cs typeface="Tahoma"/>
              </a:rPr>
              <a:t>Update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391056" y="1137052"/>
            <a:ext cx="864235" cy="368935"/>
            <a:chOff x="1391056" y="1137052"/>
            <a:chExt cx="864235" cy="368935"/>
          </a:xfrm>
        </p:grpSpPr>
        <p:sp>
          <p:nvSpPr>
            <p:cNvPr id="9" name="object 9"/>
            <p:cNvSpPr/>
            <p:nvPr/>
          </p:nvSpPr>
          <p:spPr>
            <a:xfrm>
              <a:off x="1393596" y="1139592"/>
              <a:ext cx="859155" cy="363855"/>
            </a:xfrm>
            <a:custGeom>
              <a:avLst/>
              <a:gdLst/>
              <a:ahLst/>
              <a:cxnLst/>
              <a:rect l="l" t="t" r="r" b="b"/>
              <a:pathLst>
                <a:path w="859155" h="363855">
                  <a:moveTo>
                    <a:pt x="808289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13074"/>
                  </a:lnTo>
                  <a:lnTo>
                    <a:pt x="3977" y="332774"/>
                  </a:lnTo>
                  <a:lnTo>
                    <a:pt x="14823" y="348861"/>
                  </a:lnTo>
                  <a:lnTo>
                    <a:pt x="30910" y="359707"/>
                  </a:lnTo>
                  <a:lnTo>
                    <a:pt x="50610" y="363685"/>
                  </a:lnTo>
                  <a:lnTo>
                    <a:pt x="808289" y="363685"/>
                  </a:lnTo>
                  <a:lnTo>
                    <a:pt x="827989" y="359707"/>
                  </a:lnTo>
                  <a:lnTo>
                    <a:pt x="844076" y="348861"/>
                  </a:lnTo>
                  <a:lnTo>
                    <a:pt x="854922" y="332774"/>
                  </a:lnTo>
                  <a:lnTo>
                    <a:pt x="858900" y="313074"/>
                  </a:lnTo>
                  <a:lnTo>
                    <a:pt x="858900" y="50610"/>
                  </a:lnTo>
                  <a:lnTo>
                    <a:pt x="854922" y="30910"/>
                  </a:lnTo>
                  <a:lnTo>
                    <a:pt x="844076" y="14823"/>
                  </a:lnTo>
                  <a:lnTo>
                    <a:pt x="827989" y="3977"/>
                  </a:lnTo>
                  <a:lnTo>
                    <a:pt x="808289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93596" y="1139592"/>
              <a:ext cx="859155" cy="363855"/>
            </a:xfrm>
            <a:custGeom>
              <a:avLst/>
              <a:gdLst/>
              <a:ahLst/>
              <a:cxnLst/>
              <a:rect l="l" t="t" r="r" b="b"/>
              <a:pathLst>
                <a:path w="859155" h="363855">
                  <a:moveTo>
                    <a:pt x="808289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13074"/>
                  </a:lnTo>
                  <a:lnTo>
                    <a:pt x="3977" y="332774"/>
                  </a:lnTo>
                  <a:lnTo>
                    <a:pt x="14823" y="348861"/>
                  </a:lnTo>
                  <a:lnTo>
                    <a:pt x="30910" y="359707"/>
                  </a:lnTo>
                  <a:lnTo>
                    <a:pt x="50610" y="363685"/>
                  </a:lnTo>
                  <a:lnTo>
                    <a:pt x="808289" y="363685"/>
                  </a:lnTo>
                  <a:lnTo>
                    <a:pt x="827989" y="359707"/>
                  </a:lnTo>
                  <a:lnTo>
                    <a:pt x="844076" y="348861"/>
                  </a:lnTo>
                  <a:lnTo>
                    <a:pt x="854922" y="332774"/>
                  </a:lnTo>
                  <a:lnTo>
                    <a:pt x="858900" y="313074"/>
                  </a:lnTo>
                  <a:lnTo>
                    <a:pt x="858900" y="50610"/>
                  </a:lnTo>
                  <a:lnTo>
                    <a:pt x="854922" y="30910"/>
                  </a:lnTo>
                  <a:lnTo>
                    <a:pt x="844076" y="14823"/>
                  </a:lnTo>
                  <a:lnTo>
                    <a:pt x="827989" y="3977"/>
                  </a:lnTo>
                  <a:lnTo>
                    <a:pt x="808289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427060" y="1134407"/>
            <a:ext cx="79248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9385" marR="5080" indent="-14732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ahoma"/>
                <a:cs typeface="Tahoma"/>
              </a:rPr>
              <a:t>C++</a:t>
            </a:r>
            <a:r>
              <a:rPr sz="1000" spc="14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Backend </a:t>
            </a:r>
            <a:r>
              <a:rPr sz="1000" spc="-10" dirty="0">
                <a:latin typeface="Tahoma"/>
                <a:cs typeface="Tahoma"/>
              </a:rPr>
              <a:t>(Classes)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507020" y="1140566"/>
            <a:ext cx="779145" cy="361950"/>
            <a:chOff x="2507020" y="1140566"/>
            <a:chExt cx="779145" cy="361950"/>
          </a:xfrm>
        </p:grpSpPr>
        <p:sp>
          <p:nvSpPr>
            <p:cNvPr id="13" name="object 13"/>
            <p:cNvSpPr/>
            <p:nvPr/>
          </p:nvSpPr>
          <p:spPr>
            <a:xfrm>
              <a:off x="2509560" y="1143106"/>
              <a:ext cx="774065" cy="356870"/>
            </a:xfrm>
            <a:custGeom>
              <a:avLst/>
              <a:gdLst/>
              <a:ahLst/>
              <a:cxnLst/>
              <a:rect l="l" t="t" r="r" b="b"/>
              <a:pathLst>
                <a:path w="774064" h="356869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23396" y="356656"/>
                  </a:lnTo>
                  <a:lnTo>
                    <a:pt x="743097" y="352678"/>
                  </a:lnTo>
                  <a:lnTo>
                    <a:pt x="759184" y="341832"/>
                  </a:lnTo>
                  <a:lnTo>
                    <a:pt x="770030" y="325745"/>
                  </a:lnTo>
                  <a:lnTo>
                    <a:pt x="774007" y="306045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7" y="3977"/>
                  </a:lnTo>
                  <a:lnTo>
                    <a:pt x="72339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09560" y="1143106"/>
              <a:ext cx="774065" cy="356870"/>
            </a:xfrm>
            <a:custGeom>
              <a:avLst/>
              <a:gdLst/>
              <a:ahLst/>
              <a:cxnLst/>
              <a:rect l="l" t="t" r="r" b="b"/>
              <a:pathLst>
                <a:path w="774064" h="356869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23396" y="356656"/>
                  </a:lnTo>
                  <a:lnTo>
                    <a:pt x="743097" y="352678"/>
                  </a:lnTo>
                  <a:lnTo>
                    <a:pt x="759184" y="341832"/>
                  </a:lnTo>
                  <a:lnTo>
                    <a:pt x="770030" y="325745"/>
                  </a:lnTo>
                  <a:lnTo>
                    <a:pt x="774007" y="306045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7" y="3977"/>
                  </a:lnTo>
                  <a:lnTo>
                    <a:pt x="723396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595460" y="1137925"/>
            <a:ext cx="60198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2555" marR="5080" indent="-110489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ahoma"/>
                <a:cs typeface="Tahoma"/>
              </a:rPr>
              <a:t>Bus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Status </a:t>
            </a:r>
            <a:r>
              <a:rPr sz="1000" spc="-10" dirty="0">
                <a:latin typeface="Tahoma"/>
                <a:cs typeface="Tahoma"/>
              </a:rPr>
              <a:t>Engine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538092" y="1152868"/>
            <a:ext cx="779145" cy="337185"/>
            <a:chOff x="3538092" y="1152868"/>
            <a:chExt cx="779145" cy="337185"/>
          </a:xfrm>
        </p:grpSpPr>
        <p:sp>
          <p:nvSpPr>
            <p:cNvPr id="17" name="object 17"/>
            <p:cNvSpPr/>
            <p:nvPr/>
          </p:nvSpPr>
          <p:spPr>
            <a:xfrm>
              <a:off x="3540632" y="1155408"/>
              <a:ext cx="774065" cy="332105"/>
            </a:xfrm>
            <a:custGeom>
              <a:avLst/>
              <a:gdLst/>
              <a:ahLst/>
              <a:cxnLst/>
              <a:rect l="l" t="t" r="r" b="b"/>
              <a:pathLst>
                <a:path w="774064" h="332105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81442"/>
                  </a:lnTo>
                  <a:lnTo>
                    <a:pt x="3977" y="301142"/>
                  </a:lnTo>
                  <a:lnTo>
                    <a:pt x="14823" y="317229"/>
                  </a:lnTo>
                  <a:lnTo>
                    <a:pt x="30910" y="328076"/>
                  </a:lnTo>
                  <a:lnTo>
                    <a:pt x="50610" y="332053"/>
                  </a:lnTo>
                  <a:lnTo>
                    <a:pt x="723396" y="332053"/>
                  </a:lnTo>
                  <a:lnTo>
                    <a:pt x="743096" y="328076"/>
                  </a:lnTo>
                  <a:lnTo>
                    <a:pt x="759184" y="317229"/>
                  </a:lnTo>
                  <a:lnTo>
                    <a:pt x="770030" y="301142"/>
                  </a:lnTo>
                  <a:lnTo>
                    <a:pt x="774007" y="281442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6" y="3977"/>
                  </a:lnTo>
                  <a:lnTo>
                    <a:pt x="72339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540632" y="1155408"/>
              <a:ext cx="774065" cy="332105"/>
            </a:xfrm>
            <a:custGeom>
              <a:avLst/>
              <a:gdLst/>
              <a:ahLst/>
              <a:cxnLst/>
              <a:rect l="l" t="t" r="r" b="b"/>
              <a:pathLst>
                <a:path w="774064" h="332105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81442"/>
                  </a:lnTo>
                  <a:lnTo>
                    <a:pt x="3977" y="301142"/>
                  </a:lnTo>
                  <a:lnTo>
                    <a:pt x="14823" y="317229"/>
                  </a:lnTo>
                  <a:lnTo>
                    <a:pt x="30910" y="328076"/>
                  </a:lnTo>
                  <a:lnTo>
                    <a:pt x="50610" y="332053"/>
                  </a:lnTo>
                  <a:lnTo>
                    <a:pt x="723396" y="332053"/>
                  </a:lnTo>
                  <a:lnTo>
                    <a:pt x="743096" y="328076"/>
                  </a:lnTo>
                  <a:lnTo>
                    <a:pt x="759184" y="317229"/>
                  </a:lnTo>
                  <a:lnTo>
                    <a:pt x="770030" y="301142"/>
                  </a:lnTo>
                  <a:lnTo>
                    <a:pt x="774007" y="281442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6" y="3977"/>
                  </a:lnTo>
                  <a:lnTo>
                    <a:pt x="723396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670109" y="1150231"/>
            <a:ext cx="514984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6515">
              <a:lnSpc>
                <a:spcPts val="1200"/>
              </a:lnSpc>
              <a:spcBef>
                <a:spcPts val="95"/>
              </a:spcBef>
            </a:pPr>
            <a:r>
              <a:rPr sz="1000" spc="-10" dirty="0">
                <a:latin typeface="Tahoma"/>
                <a:cs typeface="Tahoma"/>
              </a:rPr>
              <a:t>MySQL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ts val="1200"/>
              </a:lnSpc>
            </a:pPr>
            <a:r>
              <a:rPr sz="1000" spc="-35" dirty="0">
                <a:latin typeface="Tahoma"/>
                <a:cs typeface="Tahoma"/>
              </a:rPr>
              <a:t>Database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569164" y="1149353"/>
            <a:ext cx="848994" cy="344170"/>
            <a:chOff x="4569164" y="1149353"/>
            <a:chExt cx="848994" cy="344170"/>
          </a:xfrm>
        </p:grpSpPr>
        <p:sp>
          <p:nvSpPr>
            <p:cNvPr id="21" name="object 21"/>
            <p:cNvSpPr/>
            <p:nvPr/>
          </p:nvSpPr>
          <p:spPr>
            <a:xfrm>
              <a:off x="4571704" y="1151893"/>
              <a:ext cx="843915" cy="339090"/>
            </a:xfrm>
            <a:custGeom>
              <a:avLst/>
              <a:gdLst/>
              <a:ahLst/>
              <a:cxnLst/>
              <a:rect l="l" t="t" r="r" b="b"/>
              <a:pathLst>
                <a:path w="843914" h="339090">
                  <a:moveTo>
                    <a:pt x="79317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88471"/>
                  </a:lnTo>
                  <a:lnTo>
                    <a:pt x="3977" y="308172"/>
                  </a:lnTo>
                  <a:lnTo>
                    <a:pt x="14823" y="324259"/>
                  </a:lnTo>
                  <a:lnTo>
                    <a:pt x="30910" y="335105"/>
                  </a:lnTo>
                  <a:lnTo>
                    <a:pt x="50610" y="339082"/>
                  </a:lnTo>
                  <a:lnTo>
                    <a:pt x="793176" y="339082"/>
                  </a:lnTo>
                  <a:lnTo>
                    <a:pt x="812876" y="335105"/>
                  </a:lnTo>
                  <a:lnTo>
                    <a:pt x="828963" y="324259"/>
                  </a:lnTo>
                  <a:lnTo>
                    <a:pt x="839810" y="308172"/>
                  </a:lnTo>
                  <a:lnTo>
                    <a:pt x="843787" y="288471"/>
                  </a:lnTo>
                  <a:lnTo>
                    <a:pt x="843787" y="50610"/>
                  </a:lnTo>
                  <a:lnTo>
                    <a:pt x="839810" y="30910"/>
                  </a:lnTo>
                  <a:lnTo>
                    <a:pt x="828963" y="14823"/>
                  </a:lnTo>
                  <a:lnTo>
                    <a:pt x="812876" y="3977"/>
                  </a:lnTo>
                  <a:lnTo>
                    <a:pt x="79317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71704" y="1151893"/>
              <a:ext cx="843915" cy="339090"/>
            </a:xfrm>
            <a:custGeom>
              <a:avLst/>
              <a:gdLst/>
              <a:ahLst/>
              <a:cxnLst/>
              <a:rect l="l" t="t" r="r" b="b"/>
              <a:pathLst>
                <a:path w="843914" h="339090">
                  <a:moveTo>
                    <a:pt x="79317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88471"/>
                  </a:lnTo>
                  <a:lnTo>
                    <a:pt x="3977" y="308172"/>
                  </a:lnTo>
                  <a:lnTo>
                    <a:pt x="14823" y="324259"/>
                  </a:lnTo>
                  <a:lnTo>
                    <a:pt x="30910" y="335105"/>
                  </a:lnTo>
                  <a:lnTo>
                    <a:pt x="50610" y="339082"/>
                  </a:lnTo>
                  <a:lnTo>
                    <a:pt x="793176" y="339082"/>
                  </a:lnTo>
                  <a:lnTo>
                    <a:pt x="812876" y="335105"/>
                  </a:lnTo>
                  <a:lnTo>
                    <a:pt x="828963" y="324259"/>
                  </a:lnTo>
                  <a:lnTo>
                    <a:pt x="839810" y="308172"/>
                  </a:lnTo>
                  <a:lnTo>
                    <a:pt x="843787" y="288471"/>
                  </a:lnTo>
                  <a:lnTo>
                    <a:pt x="843787" y="50610"/>
                  </a:lnTo>
                  <a:lnTo>
                    <a:pt x="839810" y="30910"/>
                  </a:lnTo>
                  <a:lnTo>
                    <a:pt x="828963" y="14823"/>
                  </a:lnTo>
                  <a:lnTo>
                    <a:pt x="812876" y="3977"/>
                  </a:lnTo>
                  <a:lnTo>
                    <a:pt x="793176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605134" y="1153736"/>
            <a:ext cx="77660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6045" marR="5080" indent="-9398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ahoma"/>
                <a:cs typeface="Tahoma"/>
              </a:rPr>
              <a:t>Student/HOD Dashboard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139063" y="1298185"/>
            <a:ext cx="3414395" cy="46990"/>
            <a:chOff x="1139063" y="1298185"/>
            <a:chExt cx="3414395" cy="46990"/>
          </a:xfrm>
        </p:grpSpPr>
        <p:sp>
          <p:nvSpPr>
            <p:cNvPr id="25" name="object 25"/>
            <p:cNvSpPr/>
            <p:nvPr/>
          </p:nvSpPr>
          <p:spPr>
            <a:xfrm>
              <a:off x="1139063" y="1321434"/>
              <a:ext cx="185420" cy="0"/>
            </a:xfrm>
            <a:custGeom>
              <a:avLst/>
              <a:gdLst/>
              <a:ahLst/>
              <a:cxnLst/>
              <a:rect l="l" t="t" r="r" b="b"/>
              <a:pathLst>
                <a:path w="185419">
                  <a:moveTo>
                    <a:pt x="0" y="0"/>
                  </a:moveTo>
                  <a:lnTo>
                    <a:pt x="185063" y="0"/>
                  </a:lnTo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324126" y="1303246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5" h="36830">
                  <a:moveTo>
                    <a:pt x="0" y="0"/>
                  </a:move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324126" y="1303246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5" h="36830">
                  <a:moveTo>
                    <a:pt x="46072" y="18188"/>
                  </a:move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close/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255026" y="1321434"/>
              <a:ext cx="185420" cy="0"/>
            </a:xfrm>
            <a:custGeom>
              <a:avLst/>
              <a:gdLst/>
              <a:ahLst/>
              <a:cxnLst/>
              <a:rect l="l" t="t" r="r" b="b"/>
              <a:pathLst>
                <a:path w="185419">
                  <a:moveTo>
                    <a:pt x="0" y="0"/>
                  </a:moveTo>
                  <a:lnTo>
                    <a:pt x="185063" y="0"/>
                  </a:lnTo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440090" y="1303246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5" h="36830">
                  <a:moveTo>
                    <a:pt x="0" y="0"/>
                  </a:move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440090" y="1303246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5" h="36830">
                  <a:moveTo>
                    <a:pt x="46072" y="18188"/>
                  </a:move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close/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286098" y="1321434"/>
              <a:ext cx="185420" cy="0"/>
            </a:xfrm>
            <a:custGeom>
              <a:avLst/>
              <a:gdLst/>
              <a:ahLst/>
              <a:cxnLst/>
              <a:rect l="l" t="t" r="r" b="b"/>
              <a:pathLst>
                <a:path w="185420">
                  <a:moveTo>
                    <a:pt x="0" y="0"/>
                  </a:moveTo>
                  <a:lnTo>
                    <a:pt x="185063" y="0"/>
                  </a:lnTo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71162" y="1303246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4" h="36830">
                  <a:moveTo>
                    <a:pt x="0" y="0"/>
                  </a:move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71162" y="1303246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4" h="36830">
                  <a:moveTo>
                    <a:pt x="46072" y="18188"/>
                  </a:move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close/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317170" y="1321434"/>
              <a:ext cx="185420" cy="0"/>
            </a:xfrm>
            <a:custGeom>
              <a:avLst/>
              <a:gdLst/>
              <a:ahLst/>
              <a:cxnLst/>
              <a:rect l="l" t="t" r="r" b="b"/>
              <a:pathLst>
                <a:path w="185420">
                  <a:moveTo>
                    <a:pt x="0" y="0"/>
                  </a:moveTo>
                  <a:lnTo>
                    <a:pt x="185063" y="0"/>
                  </a:lnTo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502234" y="1303246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4" h="36830">
                  <a:moveTo>
                    <a:pt x="0" y="0"/>
                  </a:move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502234" y="1303246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4" h="36830">
                  <a:moveTo>
                    <a:pt x="46072" y="18188"/>
                  </a:move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close/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321894" y="1746279"/>
            <a:ext cx="2435225" cy="117729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15"/>
              </a:spcBef>
            </a:pPr>
            <a:r>
              <a:rPr sz="900" b="1" spc="-30" dirty="0">
                <a:solidFill>
                  <a:srgbClr val="133768"/>
                </a:solidFill>
                <a:latin typeface="Tahoma"/>
                <a:cs typeface="Tahoma"/>
              </a:rPr>
              <a:t>Major</a:t>
            </a:r>
            <a:r>
              <a:rPr sz="900" b="1" spc="-5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900" b="1" spc="-10" dirty="0">
                <a:solidFill>
                  <a:srgbClr val="133768"/>
                </a:solidFill>
                <a:latin typeface="Tahoma"/>
                <a:cs typeface="Tahoma"/>
              </a:rPr>
              <a:t>Components</a:t>
            </a:r>
            <a:endParaRPr sz="900">
              <a:latin typeface="Tahoma"/>
              <a:cs typeface="Tahoma"/>
            </a:endParaRPr>
          </a:p>
          <a:p>
            <a:pPr marL="314960" marR="162560" indent="-158115">
              <a:lnSpc>
                <a:spcPct val="101499"/>
              </a:lnSpc>
              <a:spcBef>
                <a:spcPts val="39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900" dirty="0">
                <a:latin typeface="Tahoma"/>
                <a:cs typeface="Tahoma"/>
              </a:rPr>
              <a:t>Three</a:t>
            </a:r>
            <a:r>
              <a:rPr sz="900" spc="-30" dirty="0">
                <a:latin typeface="Tahoma"/>
                <a:cs typeface="Tahoma"/>
              </a:rPr>
              <a:t> dashboards:</a:t>
            </a:r>
            <a:r>
              <a:rPr sz="900" spc="5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Student</a:t>
            </a:r>
            <a:r>
              <a:rPr sz="900" spc="-25" dirty="0">
                <a:latin typeface="Tahoma"/>
                <a:cs typeface="Tahoma"/>
              </a:rPr>
              <a:t> (view-</a:t>
            </a:r>
            <a:r>
              <a:rPr sz="900" spc="-10" dirty="0">
                <a:latin typeface="Tahoma"/>
                <a:cs typeface="Tahoma"/>
              </a:rPr>
              <a:t>only), Conductor</a:t>
            </a:r>
            <a:r>
              <a:rPr sz="900" spc="4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(update),</a:t>
            </a:r>
            <a:r>
              <a:rPr sz="900" spc="4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HOD</a:t>
            </a:r>
            <a:r>
              <a:rPr sz="900" spc="4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(analytics)</a:t>
            </a:r>
            <a:endParaRPr sz="900">
              <a:latin typeface="Tahoma"/>
              <a:cs typeface="Tahoma"/>
            </a:endParaRPr>
          </a:p>
          <a:p>
            <a:pPr marL="314960" marR="30480" indent="-158115">
              <a:lnSpc>
                <a:spcPct val="101499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900" spc="60" dirty="0">
                <a:latin typeface="Tahoma"/>
                <a:cs typeface="Tahoma"/>
              </a:rPr>
              <a:t>C++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backend:</a:t>
            </a:r>
            <a:r>
              <a:rPr sz="900" spc="95" dirty="0">
                <a:latin typeface="Tahoma"/>
                <a:cs typeface="Tahoma"/>
              </a:rPr>
              <a:t> </a:t>
            </a:r>
            <a:r>
              <a:rPr sz="900" spc="50" dirty="0">
                <a:latin typeface="Tahoma"/>
                <a:cs typeface="Tahoma"/>
              </a:rPr>
              <a:t>OOP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classes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linked list/queue/stack/priority-</a:t>
            </a:r>
            <a:r>
              <a:rPr sz="900" spc="-20" dirty="0">
                <a:latin typeface="Tahoma"/>
                <a:cs typeface="Tahoma"/>
              </a:rPr>
              <a:t>queue/hash</a:t>
            </a:r>
            <a:r>
              <a:rPr sz="900" spc="21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table</a:t>
            </a:r>
            <a:endParaRPr sz="900">
              <a:latin typeface="Tahoma"/>
              <a:cs typeface="Tahoma"/>
            </a:endParaRPr>
          </a:p>
          <a:p>
            <a:pPr marL="314960" marR="234950" indent="-158115">
              <a:lnSpc>
                <a:spcPct val="101499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900" dirty="0">
                <a:latin typeface="Tahoma"/>
                <a:cs typeface="Tahoma"/>
              </a:rPr>
              <a:t>MySQL:</a:t>
            </a:r>
            <a:r>
              <a:rPr sz="900" spc="1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fixed</a:t>
            </a:r>
            <a:r>
              <a:rPr sz="900" spc="1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routes,</a:t>
            </a:r>
            <a:r>
              <a:rPr sz="900" spc="1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stops,</a:t>
            </a:r>
            <a:r>
              <a:rPr sz="900" spc="10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distances, </a:t>
            </a:r>
            <a:r>
              <a:rPr sz="900" spc="-35" dirty="0">
                <a:latin typeface="Tahoma"/>
                <a:cs typeface="Tahoma"/>
              </a:rPr>
              <a:t>predefined</a:t>
            </a:r>
            <a:r>
              <a:rPr sz="900" spc="2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ETAs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spc="-20" dirty="0"/>
              <a:t>7</a:t>
            </a:fld>
            <a:r>
              <a:rPr spc="-20" dirty="0"/>
              <a:t>/10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2942717" y="1755798"/>
            <a:ext cx="2457450" cy="133159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spc="-20" dirty="0">
                <a:solidFill>
                  <a:srgbClr val="133768"/>
                </a:solidFill>
                <a:latin typeface="Tahoma"/>
                <a:cs typeface="Tahoma"/>
              </a:rPr>
              <a:t>Data</a:t>
            </a:r>
            <a:r>
              <a:rPr sz="1100" b="1" spc="-5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100" b="1" dirty="0">
                <a:solidFill>
                  <a:srgbClr val="133768"/>
                </a:solidFill>
                <a:latin typeface="Tahoma"/>
                <a:cs typeface="Tahoma"/>
              </a:rPr>
              <a:t>/ </a:t>
            </a:r>
            <a:r>
              <a:rPr sz="1100" b="1" spc="-40" dirty="0">
                <a:solidFill>
                  <a:srgbClr val="133768"/>
                </a:solidFill>
                <a:latin typeface="Tahoma"/>
                <a:cs typeface="Tahoma"/>
              </a:rPr>
              <a:t>Control</a:t>
            </a:r>
            <a:r>
              <a:rPr sz="1100" b="1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100" b="1" spc="-20" dirty="0">
                <a:solidFill>
                  <a:srgbClr val="133768"/>
                </a:solidFill>
                <a:latin typeface="Tahoma"/>
                <a:cs typeface="Tahoma"/>
              </a:rPr>
              <a:t>Flow</a:t>
            </a:r>
            <a:endParaRPr sz="1100"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30" dirty="0">
                <a:latin typeface="Tahoma"/>
                <a:cs typeface="Tahoma"/>
              </a:rPr>
              <a:t>Conductor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update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→</a:t>
            </a:r>
            <a:r>
              <a:rPr sz="1100" i="1" spc="65" dirty="0">
                <a:latin typeface="Arial"/>
                <a:cs typeface="Arial"/>
              </a:rPr>
              <a:t> </a:t>
            </a:r>
            <a:r>
              <a:rPr sz="1100" dirty="0">
                <a:latin typeface="Calibri"/>
                <a:cs typeface="Calibri"/>
              </a:rPr>
              <a:t>Update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spc="-10" dirty="0">
                <a:latin typeface="Tahoma"/>
                <a:cs typeface="Tahoma"/>
              </a:rPr>
              <a:t>object</a:t>
            </a:r>
            <a:endParaRPr sz="1100">
              <a:latin typeface="Tahoma"/>
              <a:cs typeface="Tahoma"/>
            </a:endParaRPr>
          </a:p>
          <a:p>
            <a:pPr marL="314960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Arial"/>
                <a:cs typeface="Arial"/>
              </a:rPr>
              <a:t>→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spc="-45" dirty="0">
                <a:latin typeface="Tahoma"/>
                <a:cs typeface="Tahoma"/>
              </a:rPr>
              <a:t>Queue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85" dirty="0">
                <a:latin typeface="Tahoma"/>
                <a:cs typeface="Tahoma"/>
              </a:rPr>
              <a:t>&amp;</a:t>
            </a:r>
            <a:r>
              <a:rPr sz="1100" spc="-10" dirty="0">
                <a:latin typeface="Tahoma"/>
                <a:cs typeface="Tahoma"/>
              </a:rPr>
              <a:t> Stack</a:t>
            </a:r>
            <a:endParaRPr sz="1100">
              <a:latin typeface="Tahoma"/>
              <a:cs typeface="Tahoma"/>
            </a:endParaRPr>
          </a:p>
          <a:p>
            <a:pPr marL="314960" marR="46355" indent="-177165">
              <a:lnSpc>
                <a:spcPct val="102600"/>
              </a:lnSpc>
              <a:spcBef>
                <a:spcPts val="1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30" dirty="0">
                <a:latin typeface="Tahoma"/>
                <a:cs typeface="Tahoma"/>
              </a:rPr>
              <a:t>Backend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pops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queue,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finds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dirty="0">
                <a:latin typeface="Calibri"/>
                <a:cs typeface="Calibri"/>
              </a:rPr>
              <a:t>Bus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spc="-25" dirty="0">
                <a:latin typeface="Tahoma"/>
                <a:cs typeface="Tahoma"/>
              </a:rPr>
              <a:t>via </a:t>
            </a:r>
            <a:r>
              <a:rPr sz="1100" spc="-55" dirty="0">
                <a:latin typeface="Tahoma"/>
                <a:cs typeface="Tahoma"/>
              </a:rPr>
              <a:t>hash-</a:t>
            </a:r>
            <a:r>
              <a:rPr sz="1100" spc="-30" dirty="0">
                <a:latin typeface="Tahoma"/>
                <a:cs typeface="Tahoma"/>
              </a:rPr>
              <a:t>table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registry,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updates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position</a:t>
            </a:r>
            <a:endParaRPr sz="1100">
              <a:latin typeface="Tahoma"/>
              <a:cs typeface="Tahoma"/>
            </a:endParaRPr>
          </a:p>
          <a:p>
            <a:pPr marL="314960" marR="83185" indent="-177165">
              <a:lnSpc>
                <a:spcPct val="102600"/>
              </a:lnSpc>
              <a:spcBef>
                <a:spcPts val="1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20" dirty="0">
                <a:latin typeface="Tahoma"/>
                <a:cs typeface="Tahoma"/>
              </a:rPr>
              <a:t>Student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dashboard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queries</a:t>
            </a:r>
            <a:r>
              <a:rPr sz="1100" spc="-10" dirty="0">
                <a:latin typeface="Tahoma"/>
                <a:cs typeface="Tahoma"/>
              </a:rPr>
              <a:t> status; </a:t>
            </a:r>
            <a:r>
              <a:rPr sz="1100" spc="-30" dirty="0">
                <a:latin typeface="Tahoma"/>
                <a:cs typeface="Tahoma"/>
              </a:rPr>
              <a:t>correct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color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shown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fresh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each </a:t>
            </a:r>
            <a:r>
              <a:rPr sz="1100" spc="-25" dirty="0">
                <a:latin typeface="Tahoma"/>
                <a:cs typeface="Tahoma"/>
              </a:rPr>
              <a:t>time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Technology</a:t>
            </a:r>
            <a:r>
              <a:rPr spc="20" dirty="0"/>
              <a:t> </a:t>
            </a:r>
            <a:r>
              <a:rPr spc="-10" dirty="0"/>
              <a:t>Stack</a:t>
            </a:r>
            <a:r>
              <a:rPr spc="20" dirty="0"/>
              <a:t> </a:t>
            </a:r>
            <a:r>
              <a:rPr spc="85" dirty="0"/>
              <a:t>&amp;</a:t>
            </a:r>
            <a:r>
              <a:rPr spc="25" dirty="0"/>
              <a:t> </a:t>
            </a:r>
            <a:r>
              <a:rPr spc="-45" dirty="0"/>
              <a:t>Methodology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9193" y="1100835"/>
            <a:ext cx="2520950" cy="198755"/>
          </a:xfrm>
          <a:custGeom>
            <a:avLst/>
            <a:gdLst/>
            <a:ahLst/>
            <a:cxnLst/>
            <a:rect l="l" t="t" r="r" b="b"/>
            <a:pathLst>
              <a:path w="2520950" h="198755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2520810" y="198367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47294" y="1079853"/>
            <a:ext cx="112077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65" dirty="0">
                <a:solidFill>
                  <a:srgbClr val="133768"/>
                </a:solidFill>
                <a:latin typeface="Arial MT"/>
                <a:cs typeface="Arial MT"/>
              </a:rPr>
              <a:t>Technology</a:t>
            </a:r>
            <a:r>
              <a:rPr sz="1200" spc="10" dirty="0">
                <a:solidFill>
                  <a:srgbClr val="133768"/>
                </a:solidFill>
                <a:latin typeface="Arial MT"/>
                <a:cs typeface="Arial MT"/>
              </a:rPr>
              <a:t> </a:t>
            </a:r>
            <a:r>
              <a:rPr sz="1200" spc="-45" dirty="0">
                <a:solidFill>
                  <a:srgbClr val="133768"/>
                </a:solidFill>
                <a:latin typeface="Arial MT"/>
                <a:cs typeface="Arial MT"/>
              </a:rPr>
              <a:t>Stack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09193" y="1286560"/>
            <a:ext cx="2520950" cy="1378585"/>
            <a:chOff x="309193" y="1286560"/>
            <a:chExt cx="2520950" cy="137858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1286560"/>
              <a:ext cx="2520810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09193" y="1330816"/>
              <a:ext cx="2520950" cy="1334770"/>
            </a:xfrm>
            <a:custGeom>
              <a:avLst/>
              <a:gdLst/>
              <a:ahLst/>
              <a:cxnLst/>
              <a:rect l="l" t="t" r="r" b="b"/>
              <a:pathLst>
                <a:path w="2520950" h="1334770">
                  <a:moveTo>
                    <a:pt x="2520810" y="0"/>
                  </a:moveTo>
                  <a:lnTo>
                    <a:pt x="0" y="0"/>
                  </a:lnTo>
                  <a:lnTo>
                    <a:pt x="0" y="1283465"/>
                  </a:lnTo>
                  <a:lnTo>
                    <a:pt x="4008" y="1303190"/>
                  </a:lnTo>
                  <a:lnTo>
                    <a:pt x="14922" y="1319343"/>
                  </a:lnTo>
                  <a:lnTo>
                    <a:pt x="31075" y="1330257"/>
                  </a:lnTo>
                  <a:lnTo>
                    <a:pt x="50800" y="1334265"/>
                  </a:lnTo>
                  <a:lnTo>
                    <a:pt x="2470010" y="1334265"/>
                  </a:lnTo>
                  <a:lnTo>
                    <a:pt x="2489735" y="1330257"/>
                  </a:lnTo>
                  <a:lnTo>
                    <a:pt x="2505888" y="1319343"/>
                  </a:lnTo>
                  <a:lnTo>
                    <a:pt x="2516802" y="1303190"/>
                  </a:lnTo>
                  <a:lnTo>
                    <a:pt x="2520810" y="1283465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21957" y="1269997"/>
            <a:ext cx="2212975" cy="135699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215265" indent="-177165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35" dirty="0">
                <a:latin typeface="Tahoma"/>
                <a:cs typeface="Tahoma"/>
              </a:rPr>
              <a:t>Programming: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C++</a:t>
            </a:r>
            <a:endParaRPr sz="1100">
              <a:latin typeface="Tahoma"/>
              <a:cs typeface="Tahoma"/>
            </a:endParaRPr>
          </a:p>
          <a:p>
            <a:pPr marL="215265" indent="-177165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30" dirty="0">
                <a:latin typeface="Tahoma"/>
                <a:cs typeface="Tahoma"/>
              </a:rPr>
              <a:t>Database: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MySQL</a:t>
            </a:r>
            <a:endParaRPr sz="1100">
              <a:latin typeface="Tahoma"/>
              <a:cs typeface="Tahoma"/>
            </a:endParaRPr>
          </a:p>
          <a:p>
            <a:pPr marL="214629" marR="30480" indent="-177165">
              <a:lnSpc>
                <a:spcPct val="102600"/>
              </a:lnSpc>
              <a:spcBef>
                <a:spcPts val="200"/>
              </a:spcBef>
              <a:buClr>
                <a:srgbClr val="133768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10" dirty="0">
                <a:latin typeface="Tahoma"/>
                <a:cs typeface="Tahoma"/>
              </a:rPr>
              <a:t>Tools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114" dirty="0">
                <a:latin typeface="Tahoma"/>
                <a:cs typeface="Tahoma"/>
              </a:rPr>
              <a:t>/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Framework:</a:t>
            </a:r>
            <a:r>
              <a:rPr sz="1100" spc="1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HTML,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CSS, JavaScript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(dashboards)</a:t>
            </a:r>
            <a:endParaRPr sz="1100">
              <a:latin typeface="Tahoma"/>
              <a:cs typeface="Tahoma"/>
            </a:endParaRPr>
          </a:p>
          <a:p>
            <a:pPr marL="215265" indent="-177165">
              <a:lnSpc>
                <a:spcPct val="100000"/>
              </a:lnSpc>
              <a:spcBef>
                <a:spcPts val="234"/>
              </a:spcBef>
              <a:buClr>
                <a:srgbClr val="133768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10" dirty="0">
                <a:latin typeface="Tahoma"/>
                <a:cs typeface="Tahoma"/>
              </a:rPr>
              <a:t>IDE: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i="1" spc="-20" dirty="0">
                <a:solidFill>
                  <a:srgbClr val="595959"/>
                </a:solidFill>
                <a:latin typeface="Arial"/>
                <a:cs typeface="Arial"/>
              </a:rPr>
              <a:t>VS</a:t>
            </a:r>
            <a:r>
              <a:rPr sz="1100" i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Code,MySQL</a:t>
            </a:r>
            <a:endParaRPr sz="1100">
              <a:latin typeface="Arial"/>
              <a:cs typeface="Arial"/>
            </a:endParaRPr>
          </a:p>
          <a:p>
            <a:pPr marL="214629">
              <a:lnSpc>
                <a:spcPct val="100000"/>
              </a:lnSpc>
              <a:spcBef>
                <a:spcPts val="30"/>
              </a:spcBef>
            </a:pP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workbench;Codeblocks</a:t>
            </a:r>
            <a:endParaRPr sz="1100">
              <a:latin typeface="Arial"/>
              <a:cs typeface="Arial"/>
            </a:endParaRPr>
          </a:p>
          <a:p>
            <a:pPr marL="215265" indent="-177165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30" dirty="0">
                <a:latin typeface="Tahoma"/>
                <a:cs typeface="Tahoma"/>
              </a:rPr>
              <a:t>Version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Control:</a:t>
            </a:r>
            <a:r>
              <a:rPr sz="1100" spc="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Git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114" dirty="0">
                <a:latin typeface="Tahoma"/>
                <a:cs typeface="Tahoma"/>
              </a:rPr>
              <a:t>/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GitHub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930016" y="1100835"/>
            <a:ext cx="2520950" cy="198755"/>
          </a:xfrm>
          <a:custGeom>
            <a:avLst/>
            <a:gdLst/>
            <a:ahLst/>
            <a:cxnLst/>
            <a:rect l="l" t="t" r="r" b="b"/>
            <a:pathLst>
              <a:path w="2520950" h="198755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2520810" y="198367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968117" y="1079853"/>
            <a:ext cx="168783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60" dirty="0">
                <a:solidFill>
                  <a:srgbClr val="133768"/>
                </a:solidFill>
                <a:latin typeface="Arial MT"/>
                <a:cs typeface="Arial MT"/>
              </a:rPr>
              <a:t>Development</a:t>
            </a:r>
            <a:r>
              <a:rPr sz="1200" spc="10" dirty="0">
                <a:solidFill>
                  <a:srgbClr val="133768"/>
                </a:solidFill>
                <a:latin typeface="Arial MT"/>
                <a:cs typeface="Arial MT"/>
              </a:rPr>
              <a:t> </a:t>
            </a:r>
            <a:r>
              <a:rPr sz="1200" spc="-45" dirty="0">
                <a:solidFill>
                  <a:srgbClr val="133768"/>
                </a:solidFill>
                <a:latin typeface="Arial MT"/>
                <a:cs typeface="Arial MT"/>
              </a:rPr>
              <a:t>Methodology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930016" y="1286560"/>
            <a:ext cx="2520950" cy="1000125"/>
            <a:chOff x="2930016" y="1286560"/>
            <a:chExt cx="2520950" cy="100012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0016" y="1286560"/>
              <a:ext cx="2520810" cy="5060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930016" y="1330830"/>
              <a:ext cx="2520950" cy="955675"/>
            </a:xfrm>
            <a:custGeom>
              <a:avLst/>
              <a:gdLst/>
              <a:ahLst/>
              <a:cxnLst/>
              <a:rect l="l" t="t" r="r" b="b"/>
              <a:pathLst>
                <a:path w="2520950" h="955675">
                  <a:moveTo>
                    <a:pt x="2520810" y="0"/>
                  </a:moveTo>
                  <a:lnTo>
                    <a:pt x="0" y="0"/>
                  </a:lnTo>
                  <a:lnTo>
                    <a:pt x="0" y="904674"/>
                  </a:lnTo>
                  <a:lnTo>
                    <a:pt x="4008" y="924399"/>
                  </a:lnTo>
                  <a:lnTo>
                    <a:pt x="14922" y="940552"/>
                  </a:lnTo>
                  <a:lnTo>
                    <a:pt x="31075" y="951466"/>
                  </a:lnTo>
                  <a:lnTo>
                    <a:pt x="50800" y="955474"/>
                  </a:lnTo>
                  <a:lnTo>
                    <a:pt x="2470010" y="955474"/>
                  </a:lnTo>
                  <a:lnTo>
                    <a:pt x="2489735" y="951466"/>
                  </a:lnTo>
                  <a:lnTo>
                    <a:pt x="2505888" y="940552"/>
                  </a:lnTo>
                  <a:lnTo>
                    <a:pt x="2516802" y="924399"/>
                  </a:lnTo>
                  <a:lnTo>
                    <a:pt x="2520810" y="904674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068180" y="1269997"/>
            <a:ext cx="1443990" cy="101282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90500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AutoNum type="arabicPeriod"/>
              <a:tabLst>
                <a:tab pos="190500" algn="l"/>
              </a:tabLst>
            </a:pPr>
            <a:r>
              <a:rPr sz="1100" spc="-45" dirty="0">
                <a:latin typeface="Tahoma"/>
                <a:cs typeface="Tahoma"/>
              </a:rPr>
              <a:t>Requirement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Analysis</a:t>
            </a:r>
            <a:endParaRPr sz="1100">
              <a:latin typeface="Tahoma"/>
              <a:cs typeface="Tahoma"/>
            </a:endParaRPr>
          </a:p>
          <a:p>
            <a:pPr marL="190500" indent="-177800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AutoNum type="arabicPeriod"/>
              <a:tabLst>
                <a:tab pos="190500" algn="l"/>
              </a:tabLst>
            </a:pPr>
            <a:r>
              <a:rPr sz="1100" spc="-30" dirty="0">
                <a:latin typeface="Tahoma"/>
                <a:cs typeface="Tahoma"/>
              </a:rPr>
              <a:t>System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Design</a:t>
            </a:r>
            <a:endParaRPr sz="1100">
              <a:latin typeface="Tahoma"/>
              <a:cs typeface="Tahoma"/>
            </a:endParaRPr>
          </a:p>
          <a:p>
            <a:pPr marL="190500" indent="-177800">
              <a:lnSpc>
                <a:spcPct val="100000"/>
              </a:lnSpc>
              <a:spcBef>
                <a:spcPts val="234"/>
              </a:spcBef>
              <a:buClr>
                <a:srgbClr val="133768"/>
              </a:buClr>
              <a:buAutoNum type="arabicPeriod"/>
              <a:tabLst>
                <a:tab pos="190500" algn="l"/>
              </a:tabLst>
            </a:pPr>
            <a:r>
              <a:rPr sz="1100" spc="-10" dirty="0">
                <a:latin typeface="Tahoma"/>
                <a:cs typeface="Tahoma"/>
              </a:rPr>
              <a:t>Implementation</a:t>
            </a:r>
            <a:endParaRPr sz="1100">
              <a:latin typeface="Tahoma"/>
              <a:cs typeface="Tahoma"/>
            </a:endParaRPr>
          </a:p>
          <a:p>
            <a:pPr marL="190500" indent="-177800">
              <a:lnSpc>
                <a:spcPct val="100000"/>
              </a:lnSpc>
              <a:spcBef>
                <a:spcPts val="229"/>
              </a:spcBef>
              <a:buClr>
                <a:srgbClr val="133768"/>
              </a:buClr>
              <a:buAutoNum type="arabicPeriod"/>
              <a:tabLst>
                <a:tab pos="190500" algn="l"/>
              </a:tabLst>
            </a:pPr>
            <a:r>
              <a:rPr sz="1100" spc="-10" dirty="0">
                <a:latin typeface="Tahoma"/>
                <a:cs typeface="Tahoma"/>
              </a:rPr>
              <a:t>Testing</a:t>
            </a:r>
            <a:endParaRPr sz="1100">
              <a:latin typeface="Tahoma"/>
              <a:cs typeface="Tahoma"/>
            </a:endParaRPr>
          </a:p>
          <a:p>
            <a:pPr marL="190500" indent="-177800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AutoNum type="arabicPeriod"/>
              <a:tabLst>
                <a:tab pos="190500" algn="l"/>
              </a:tabLst>
            </a:pPr>
            <a:r>
              <a:rPr sz="1100" spc="-10" dirty="0">
                <a:latin typeface="Tahoma"/>
                <a:cs typeface="Tahoma"/>
              </a:rPr>
              <a:t>Evaluation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8</a:t>
            </a:fld>
            <a:r>
              <a:rPr spc="-10" dirty="0"/>
              <a:t>/10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07568" y="2650210"/>
            <a:ext cx="4745355" cy="369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0480">
              <a:lnSpc>
                <a:spcPct val="141100"/>
              </a:lnSpc>
              <a:spcBef>
                <a:spcPts val="100"/>
              </a:spcBef>
            </a:pPr>
            <a:r>
              <a:rPr sz="800" spc="114" dirty="0">
                <a:solidFill>
                  <a:srgbClr val="595959"/>
                </a:solidFill>
                <a:latin typeface="Arial MT"/>
                <a:cs typeface="Arial MT"/>
              </a:rPr>
              <a:t>C++</a:t>
            </a:r>
            <a:r>
              <a:rPr sz="8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595959"/>
                </a:solidFill>
                <a:latin typeface="Arial MT"/>
                <a:cs typeface="Arial MT"/>
              </a:rPr>
              <a:t>gives</a:t>
            </a:r>
            <a:r>
              <a:rPr sz="8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95959"/>
                </a:solidFill>
                <a:latin typeface="Arial MT"/>
                <a:cs typeface="Arial MT"/>
              </a:rPr>
              <a:t>full</a:t>
            </a:r>
            <a:r>
              <a:rPr sz="8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95959"/>
                </a:solidFill>
                <a:latin typeface="Arial MT"/>
                <a:cs typeface="Arial MT"/>
              </a:rPr>
              <a:t>control</a:t>
            </a:r>
            <a:r>
              <a:rPr sz="8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95959"/>
                </a:solidFill>
                <a:latin typeface="Arial MT"/>
                <a:cs typeface="Arial MT"/>
              </a:rPr>
              <a:t>over</a:t>
            </a:r>
            <a:r>
              <a:rPr sz="8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8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595959"/>
                </a:solidFill>
                <a:latin typeface="Arial MT"/>
                <a:cs typeface="Arial MT"/>
              </a:rPr>
              <a:t>required</a:t>
            </a:r>
            <a:r>
              <a:rPr sz="8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95959"/>
                </a:solidFill>
                <a:latin typeface="Arial MT"/>
                <a:cs typeface="Arial MT"/>
              </a:rPr>
              <a:t>data</a:t>
            </a:r>
            <a:r>
              <a:rPr sz="8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95959"/>
                </a:solidFill>
                <a:latin typeface="Arial MT"/>
                <a:cs typeface="Arial MT"/>
              </a:rPr>
              <a:t>structures</a:t>
            </a:r>
            <a:r>
              <a:rPr sz="8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sz="8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95959"/>
                </a:solidFill>
                <a:latin typeface="Arial MT"/>
                <a:cs typeface="Arial MT"/>
              </a:rPr>
              <a:t>OOP</a:t>
            </a:r>
            <a:r>
              <a:rPr sz="8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595959"/>
                </a:solidFill>
                <a:latin typeface="Arial MT"/>
                <a:cs typeface="Arial MT"/>
              </a:rPr>
              <a:t>features;</a:t>
            </a:r>
            <a:r>
              <a:rPr sz="8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95959"/>
                </a:solidFill>
                <a:latin typeface="Arial MT"/>
                <a:cs typeface="Arial MT"/>
              </a:rPr>
              <a:t>MySQL</a:t>
            </a:r>
            <a:r>
              <a:rPr sz="8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595959"/>
                </a:solidFill>
                <a:latin typeface="Arial MT"/>
                <a:cs typeface="Arial MT"/>
              </a:rPr>
              <a:t>cleanly</a:t>
            </a:r>
            <a:r>
              <a:rPr sz="8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595959"/>
                </a:solidFill>
                <a:latin typeface="Arial MT"/>
                <a:cs typeface="Arial MT"/>
              </a:rPr>
              <a:t>stores</a:t>
            </a:r>
            <a:r>
              <a:rPr sz="8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595959"/>
                </a:solidFill>
                <a:latin typeface="Arial MT"/>
                <a:cs typeface="Arial MT"/>
              </a:rPr>
              <a:t>fixed </a:t>
            </a:r>
            <a:r>
              <a:rPr sz="800" dirty="0">
                <a:solidFill>
                  <a:srgbClr val="595959"/>
                </a:solidFill>
                <a:latin typeface="Arial MT"/>
                <a:cs typeface="Arial MT"/>
              </a:rPr>
              <a:t>routes/stops/ETAs;</a:t>
            </a:r>
            <a:r>
              <a:rPr sz="800" spc="9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95959"/>
                </a:solidFill>
                <a:latin typeface="Arial MT"/>
                <a:cs typeface="Arial MT"/>
              </a:rPr>
              <a:t>Our</a:t>
            </a:r>
            <a:r>
              <a:rPr sz="800" spc="9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595959"/>
                </a:solidFill>
                <a:latin typeface="Arial MT"/>
                <a:cs typeface="Arial MT"/>
              </a:rPr>
              <a:t>12-</a:t>
            </a:r>
            <a:r>
              <a:rPr sz="800" spc="-25" dirty="0">
                <a:solidFill>
                  <a:srgbClr val="595959"/>
                </a:solidFill>
                <a:latin typeface="Arial MT"/>
                <a:cs typeface="Arial MT"/>
              </a:rPr>
              <a:t>week</a:t>
            </a:r>
            <a:r>
              <a:rPr sz="800" spc="9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595959"/>
                </a:solidFill>
                <a:latin typeface="Arial MT"/>
                <a:cs typeface="Arial MT"/>
              </a:rPr>
              <a:t>roadmap</a:t>
            </a:r>
            <a:r>
              <a:rPr sz="800" spc="9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95959"/>
                </a:solidFill>
                <a:latin typeface="Arial MT"/>
                <a:cs typeface="Arial MT"/>
              </a:rPr>
              <a:t>(DSA/DB</a:t>
            </a:r>
            <a:r>
              <a:rPr sz="800" spc="9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i="1" dirty="0">
                <a:solidFill>
                  <a:srgbClr val="595959"/>
                </a:solidFill>
                <a:latin typeface="Arial"/>
                <a:cs typeface="Arial"/>
              </a:rPr>
              <a:t>→</a:t>
            </a:r>
            <a:r>
              <a:rPr sz="800" i="1" spc="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595959"/>
                </a:solidFill>
                <a:latin typeface="Arial MT"/>
                <a:cs typeface="Arial MT"/>
              </a:rPr>
              <a:t>backend</a:t>
            </a:r>
            <a:r>
              <a:rPr sz="800" spc="9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i="1" dirty="0">
                <a:solidFill>
                  <a:srgbClr val="595959"/>
                </a:solidFill>
                <a:latin typeface="Arial"/>
                <a:cs typeface="Arial"/>
              </a:rPr>
              <a:t>→</a:t>
            </a:r>
            <a:r>
              <a:rPr sz="800" i="1" spc="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95959"/>
                </a:solidFill>
                <a:latin typeface="Arial MT"/>
                <a:cs typeface="Arial MT"/>
              </a:rPr>
              <a:t>frontend</a:t>
            </a:r>
            <a:r>
              <a:rPr sz="800" spc="9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i="1" dirty="0">
                <a:solidFill>
                  <a:srgbClr val="595959"/>
                </a:solidFill>
                <a:latin typeface="Arial"/>
                <a:cs typeface="Arial"/>
              </a:rPr>
              <a:t>→</a:t>
            </a:r>
            <a:r>
              <a:rPr sz="800" i="1" spc="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95959"/>
                </a:solidFill>
                <a:latin typeface="Arial MT"/>
                <a:cs typeface="Arial MT"/>
              </a:rPr>
              <a:t>integration</a:t>
            </a:r>
            <a:r>
              <a:rPr sz="800" spc="9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i="1" dirty="0">
                <a:solidFill>
                  <a:srgbClr val="595959"/>
                </a:solidFill>
                <a:latin typeface="Arial"/>
                <a:cs typeface="Arial"/>
              </a:rPr>
              <a:t>→</a:t>
            </a:r>
            <a:r>
              <a:rPr sz="800" i="1" spc="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595959"/>
                </a:solidFill>
                <a:latin typeface="Arial MT"/>
                <a:cs typeface="Arial MT"/>
              </a:rPr>
              <a:t>testing).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5" dirty="0"/>
              <a:t>Initial</a:t>
            </a:r>
            <a:r>
              <a:rPr spc="5" dirty="0"/>
              <a:t> </a:t>
            </a:r>
            <a:r>
              <a:rPr spc="-60" dirty="0"/>
              <a:t>Progress</a:t>
            </a:r>
            <a:r>
              <a:rPr spc="5" dirty="0"/>
              <a:t> </a:t>
            </a:r>
            <a:r>
              <a:rPr spc="85" dirty="0"/>
              <a:t>&amp;</a:t>
            </a:r>
            <a:r>
              <a:rPr spc="10" dirty="0"/>
              <a:t> </a:t>
            </a:r>
            <a:r>
              <a:rPr spc="-25" dirty="0"/>
              <a:t>Team</a:t>
            </a:r>
            <a:r>
              <a:rPr spc="5" dirty="0"/>
              <a:t> </a:t>
            </a:r>
            <a:r>
              <a:rPr spc="-50" dirty="0"/>
              <a:t>Contribution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1894" y="936352"/>
            <a:ext cx="2259330" cy="1588897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90"/>
              </a:spcBef>
            </a:pPr>
            <a:r>
              <a:rPr sz="1000" b="1" spc="-60" dirty="0">
                <a:solidFill>
                  <a:srgbClr val="133768"/>
                </a:solidFill>
                <a:latin typeface="Tahoma"/>
                <a:cs typeface="Tahoma"/>
              </a:rPr>
              <a:t>Progress</a:t>
            </a:r>
            <a:r>
              <a:rPr sz="1000" b="1" spc="20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000" b="1" spc="-10" dirty="0">
                <a:solidFill>
                  <a:srgbClr val="133768"/>
                </a:solidFill>
                <a:latin typeface="Tahoma"/>
                <a:cs typeface="Tahoma"/>
              </a:rPr>
              <a:t>Achieved</a:t>
            </a:r>
            <a:endParaRPr sz="1000" dirty="0">
              <a:latin typeface="Tahoma"/>
              <a:cs typeface="Tahoma"/>
            </a:endParaRPr>
          </a:p>
          <a:p>
            <a:pPr marL="312420" marR="216535" indent="-165735">
              <a:lnSpc>
                <a:spcPct val="100000"/>
              </a:lnSpc>
              <a:spcBef>
                <a:spcPts val="59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000" spc="-40" dirty="0">
                <a:latin typeface="Tahoma"/>
                <a:cs typeface="Tahoma"/>
              </a:rPr>
              <a:t>Requirements</a:t>
            </a:r>
            <a:r>
              <a:rPr sz="1000" spc="-35" dirty="0">
                <a:latin typeface="Tahoma"/>
                <a:cs typeface="Tahoma"/>
              </a:rPr>
              <a:t> scoped</a:t>
            </a:r>
            <a:r>
              <a:rPr sz="1000" spc="-25" dirty="0">
                <a:latin typeface="Tahoma"/>
                <a:cs typeface="Tahoma"/>
              </a:rPr>
              <a:t> and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Class 	</a:t>
            </a:r>
            <a:r>
              <a:rPr sz="1000" spc="-25" dirty="0">
                <a:latin typeface="Tahoma"/>
                <a:cs typeface="Tahoma"/>
              </a:rPr>
              <a:t>contracts</a:t>
            </a:r>
            <a:r>
              <a:rPr sz="1000" spc="-20" dirty="0">
                <a:latin typeface="Tahoma"/>
                <a:cs typeface="Tahoma"/>
              </a:rPr>
              <a:t> finalized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(Stop,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Route, 	</a:t>
            </a:r>
            <a:r>
              <a:rPr sz="1000" dirty="0">
                <a:latin typeface="Tahoma"/>
                <a:cs typeface="Tahoma"/>
              </a:rPr>
              <a:t>Bus,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User,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Update)</a:t>
            </a:r>
            <a:endParaRPr sz="1000" dirty="0">
              <a:latin typeface="Tahoma"/>
              <a:cs typeface="Tahoma"/>
            </a:endParaRPr>
          </a:p>
          <a:p>
            <a:pPr marL="313055" indent="-165735">
              <a:lnSpc>
                <a:spcPct val="100000"/>
              </a:lnSpc>
              <a:spcBef>
                <a:spcPts val="484"/>
              </a:spcBef>
              <a:buClr>
                <a:srgbClr val="133768"/>
              </a:buClr>
              <a:buFont typeface="Lucida Sans Unicode"/>
              <a:buChar char="►"/>
              <a:tabLst>
                <a:tab pos="313055" algn="l"/>
              </a:tabLst>
            </a:pPr>
            <a:r>
              <a:rPr sz="1000" spc="-50" dirty="0">
                <a:latin typeface="Tahoma"/>
                <a:cs typeface="Tahoma"/>
              </a:rPr>
              <a:t>10-</a:t>
            </a:r>
            <a:r>
              <a:rPr sz="1000" spc="-65" dirty="0">
                <a:latin typeface="Tahoma"/>
                <a:cs typeface="Tahoma"/>
              </a:rPr>
              <a:t>week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phased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roadmap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agreed</a:t>
            </a:r>
            <a:endParaRPr sz="1000" dirty="0">
              <a:latin typeface="Tahoma"/>
              <a:cs typeface="Tahoma"/>
            </a:endParaRPr>
          </a:p>
          <a:p>
            <a:pPr marL="313055" indent="-165735">
              <a:lnSpc>
                <a:spcPct val="100000"/>
              </a:lnSpc>
              <a:spcBef>
                <a:spcPts val="495"/>
              </a:spcBef>
              <a:buClr>
                <a:srgbClr val="133768"/>
              </a:buClr>
              <a:buFont typeface="Lucida Sans Unicode"/>
              <a:buChar char="►"/>
              <a:tabLst>
                <a:tab pos="313055" algn="l"/>
              </a:tabLst>
            </a:pPr>
            <a:r>
              <a:rPr sz="1000" dirty="0">
                <a:latin typeface="Tahoma"/>
                <a:cs typeface="Tahoma"/>
              </a:rPr>
              <a:t>MySQL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schema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design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completed.</a:t>
            </a:r>
            <a:endParaRPr sz="1000" dirty="0">
              <a:latin typeface="Tahoma"/>
              <a:cs typeface="Tahoma"/>
            </a:endParaRPr>
          </a:p>
          <a:p>
            <a:pPr marL="312420" marR="30480" indent="-165735">
              <a:lnSpc>
                <a:spcPct val="100000"/>
              </a:lnSpc>
              <a:spcBef>
                <a:spcPts val="49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000" dirty="0">
                <a:latin typeface="Tahoma"/>
                <a:cs typeface="Tahoma"/>
              </a:rPr>
              <a:t>3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Routes</a:t>
            </a:r>
            <a:r>
              <a:rPr lang="en-US"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all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information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stored </a:t>
            </a:r>
            <a:r>
              <a:rPr sz="1000" dirty="0">
                <a:latin typeface="Tahoma"/>
                <a:cs typeface="Tahoma"/>
              </a:rPr>
              <a:t>in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MySQL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Database.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66479" y="968193"/>
            <a:ext cx="2646680" cy="34544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  <a:tabLst>
                <a:tab pos="2633345" algn="l"/>
              </a:tabLst>
            </a:pPr>
            <a:r>
              <a:rPr sz="1100" b="1" u="sng" spc="-85" dirty="0">
                <a:solidFill>
                  <a:srgbClr val="133768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Individual</a:t>
            </a:r>
            <a:r>
              <a:rPr sz="1100" b="1" u="sng" spc="15" dirty="0">
                <a:solidFill>
                  <a:srgbClr val="133768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100" b="1" u="sng" spc="-10" dirty="0">
                <a:solidFill>
                  <a:srgbClr val="133768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Contribution</a:t>
            </a:r>
            <a:r>
              <a:rPr sz="1100" b="1" u="sng" dirty="0">
                <a:solidFill>
                  <a:srgbClr val="133768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  <a:tabLst>
                <a:tab pos="920115" algn="l"/>
                <a:tab pos="1647825" algn="l"/>
              </a:tabLst>
            </a:pPr>
            <a:r>
              <a:rPr sz="600" spc="-10" dirty="0">
                <a:latin typeface="Arial MT"/>
                <a:cs typeface="Arial MT"/>
              </a:rPr>
              <a:t>Member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600" spc="-20" dirty="0">
                <a:latin typeface="Arial MT"/>
                <a:cs typeface="Arial MT"/>
              </a:rPr>
              <a:t>Role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600" spc="-10" dirty="0">
                <a:latin typeface="Arial MT"/>
                <a:cs typeface="Arial MT"/>
              </a:rPr>
              <a:t>Contribution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779179" y="1340243"/>
            <a:ext cx="2621280" cy="0"/>
          </a:xfrm>
          <a:custGeom>
            <a:avLst/>
            <a:gdLst/>
            <a:ahLst/>
            <a:cxnLst/>
            <a:rect l="l" t="t" r="r" b="b"/>
            <a:pathLst>
              <a:path w="2621279">
                <a:moveTo>
                  <a:pt x="0" y="0"/>
                </a:moveTo>
                <a:lnTo>
                  <a:pt x="2620822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766479" y="1357114"/>
            <a:ext cx="12369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20115" algn="l"/>
              </a:tabLst>
            </a:pPr>
            <a:r>
              <a:rPr sz="600" spc="-20" dirty="0">
                <a:latin typeface="Arial MT"/>
                <a:cs typeface="Arial MT"/>
              </a:rPr>
              <a:t>Devansh</a:t>
            </a:r>
            <a:r>
              <a:rPr sz="600" spc="1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Dangwal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600" spc="-10" dirty="0">
                <a:latin typeface="Arial MT"/>
                <a:cs typeface="Arial MT"/>
              </a:rPr>
              <a:t>Lead/DS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02150" y="1357114"/>
            <a:ext cx="222250" cy="20510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700"/>
              </a:lnSpc>
              <a:spcBef>
                <a:spcPts val="135"/>
              </a:spcBef>
            </a:pPr>
            <a:r>
              <a:rPr sz="600" spc="-20" dirty="0">
                <a:latin typeface="Arial MT"/>
                <a:cs typeface="Arial MT"/>
              </a:rPr>
              <a:t>linked</a:t>
            </a:r>
            <a:r>
              <a:rPr sz="600" spc="50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stack,</a:t>
            </a:r>
            <a:endParaRPr sz="60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81393" y="1357114"/>
            <a:ext cx="260985" cy="20510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18415">
              <a:lnSpc>
                <a:spcPts val="700"/>
              </a:lnSpc>
              <a:spcBef>
                <a:spcPts val="135"/>
              </a:spcBef>
            </a:pPr>
            <a:r>
              <a:rPr sz="600" spc="-10" dirty="0">
                <a:latin typeface="Arial MT"/>
                <a:cs typeface="Arial MT"/>
              </a:rPr>
              <a:t>list,</a:t>
            </a:r>
            <a:r>
              <a:rPr sz="600" spc="50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priority</a:t>
            </a:r>
            <a:endParaRPr sz="600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68137" y="1357114"/>
            <a:ext cx="244475" cy="2940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algn="just">
              <a:lnSpc>
                <a:spcPts val="700"/>
              </a:lnSpc>
              <a:spcBef>
                <a:spcPts val="135"/>
              </a:spcBef>
            </a:pPr>
            <a:r>
              <a:rPr sz="600" spc="-35" dirty="0">
                <a:latin typeface="Arial MT"/>
                <a:cs typeface="Arial MT"/>
              </a:rPr>
              <a:t>queue,</a:t>
            </a:r>
            <a:r>
              <a:rPr sz="600" spc="500" dirty="0">
                <a:latin typeface="Arial MT"/>
                <a:cs typeface="Arial MT"/>
              </a:rPr>
              <a:t> </a:t>
            </a:r>
            <a:r>
              <a:rPr sz="600" spc="-35" dirty="0">
                <a:latin typeface="Arial MT"/>
                <a:cs typeface="Arial MT"/>
              </a:rPr>
              <a:t>queue,</a:t>
            </a:r>
            <a:r>
              <a:rPr sz="600" spc="50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logic,</a:t>
            </a:r>
            <a:endParaRPr sz="600" dirty="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02150" y="1534253"/>
            <a:ext cx="639445" cy="20510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700"/>
              </a:lnSpc>
              <a:spcBef>
                <a:spcPts val="135"/>
              </a:spcBef>
            </a:pPr>
            <a:r>
              <a:rPr sz="600" spc="-10" dirty="0">
                <a:latin typeface="Arial MT"/>
                <a:cs typeface="Arial MT"/>
              </a:rPr>
              <a:t>”late/full/resting”</a:t>
            </a:r>
            <a:r>
              <a:rPr sz="600" spc="50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repo/coordination</a:t>
            </a:r>
            <a:endParaRPr sz="600" dirty="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66479" y="1711393"/>
            <a:ext cx="4756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Arial MT"/>
                <a:cs typeface="Arial MT"/>
              </a:rPr>
              <a:t>Aryan </a:t>
            </a:r>
            <a:r>
              <a:rPr sz="600" spc="-10" dirty="0">
                <a:latin typeface="Arial MT"/>
                <a:cs typeface="Arial MT"/>
              </a:rPr>
              <a:t>Gusain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74398" y="1711393"/>
            <a:ext cx="4978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Arial MT"/>
                <a:cs typeface="Arial MT"/>
              </a:rPr>
              <a:t>DS</a:t>
            </a:r>
            <a:r>
              <a:rPr sz="600" spc="1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/Frontend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65729" y="1711393"/>
            <a:ext cx="6470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2110" algn="l"/>
              </a:tabLst>
            </a:pPr>
            <a:r>
              <a:rPr sz="600" spc="-10" dirty="0">
                <a:latin typeface="Arial MT"/>
                <a:cs typeface="Arial MT"/>
              </a:rPr>
              <a:t>table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600" spc="-10" dirty="0">
                <a:latin typeface="Arial MT"/>
                <a:cs typeface="Arial MT"/>
              </a:rPr>
              <a:t>(instant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24149" y="1799950"/>
            <a:ext cx="5886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Arial MT"/>
                <a:cs typeface="Arial MT"/>
              </a:rPr>
              <a:t>lookup)—Route-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02139" y="1711393"/>
            <a:ext cx="377825" cy="3822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-635">
              <a:lnSpc>
                <a:spcPts val="700"/>
              </a:lnSpc>
              <a:spcBef>
                <a:spcPts val="135"/>
              </a:spcBef>
            </a:pPr>
            <a:r>
              <a:rPr sz="600" spc="-20" dirty="0">
                <a:latin typeface="Arial MT"/>
                <a:cs typeface="Arial MT"/>
              </a:rPr>
              <a:t>Hash</a:t>
            </a:r>
            <a:r>
              <a:rPr sz="600" spc="50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bus/route</a:t>
            </a:r>
            <a:r>
              <a:rPr sz="600" spc="50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validation</a:t>
            </a:r>
            <a:r>
              <a:rPr sz="600" spc="80" dirty="0">
                <a:latin typeface="Arial MT"/>
                <a:cs typeface="Arial MT"/>
              </a:rPr>
              <a:t> C++</a:t>
            </a:r>
            <a:r>
              <a:rPr sz="600" spc="245" dirty="0">
                <a:latin typeface="Arial MT"/>
                <a:cs typeface="Arial MT"/>
              </a:rPr>
              <a:t>  </a:t>
            </a:r>
            <a:r>
              <a:rPr sz="600" spc="-35" dirty="0">
                <a:latin typeface="Arial MT"/>
                <a:cs typeface="Arial MT"/>
              </a:rPr>
              <a:t>to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59981" y="1888520"/>
            <a:ext cx="553085" cy="20510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45720">
              <a:lnSpc>
                <a:spcPts val="700"/>
              </a:lnSpc>
              <a:spcBef>
                <a:spcPts val="135"/>
              </a:spcBef>
            </a:pPr>
            <a:r>
              <a:rPr sz="600" spc="-10" dirty="0">
                <a:latin typeface="Arial MT"/>
                <a:cs typeface="Arial MT"/>
              </a:rPr>
              <a:t>checks.—</a:t>
            </a:r>
            <a:r>
              <a:rPr sz="600" spc="-25" dirty="0">
                <a:latin typeface="Arial MT"/>
                <a:cs typeface="Arial MT"/>
              </a:rPr>
              <a:t>Wire</a:t>
            </a:r>
            <a:r>
              <a:rPr sz="600" spc="50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MySQL.—</a:t>
            </a:r>
            <a:r>
              <a:rPr sz="600" spc="265" dirty="0">
                <a:latin typeface="Arial MT"/>
                <a:cs typeface="Arial MT"/>
              </a:rPr>
              <a:t>  </a:t>
            </a:r>
            <a:r>
              <a:rPr sz="600" spc="90" dirty="0">
                <a:latin typeface="Arial MT"/>
                <a:cs typeface="Arial MT"/>
              </a:rPr>
              <a:t>+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02150" y="2065660"/>
            <a:ext cx="55689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Arial MT"/>
                <a:cs typeface="Arial MT"/>
              </a:rPr>
              <a:t>HTML/CSS/JS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766479" y="2154229"/>
            <a:ext cx="5829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Arial MT"/>
                <a:cs typeface="Arial MT"/>
              </a:rPr>
              <a:t>Vinayak</a:t>
            </a:r>
            <a:r>
              <a:rPr sz="600" spc="2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Lakhera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74292" y="2154229"/>
            <a:ext cx="3397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Arial MT"/>
                <a:cs typeface="Arial MT"/>
              </a:rPr>
              <a:t>OOP/DS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02003" y="2154229"/>
            <a:ext cx="1010919" cy="20510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-635">
              <a:lnSpc>
                <a:spcPts val="700"/>
              </a:lnSpc>
              <a:spcBef>
                <a:spcPts val="135"/>
              </a:spcBef>
              <a:tabLst>
                <a:tab pos="342265" algn="l"/>
                <a:tab pos="641985" algn="l"/>
                <a:tab pos="775970" algn="l"/>
                <a:tab pos="855344" algn="l"/>
              </a:tabLst>
            </a:pPr>
            <a:r>
              <a:rPr sz="600" spc="-20" dirty="0">
                <a:latin typeface="Arial MT"/>
                <a:cs typeface="Arial MT"/>
              </a:rPr>
              <a:t>Class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600" spc="-5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(Stop,		</a:t>
            </a:r>
            <a:r>
              <a:rPr sz="600" spc="-20" dirty="0">
                <a:latin typeface="Arial MT"/>
                <a:cs typeface="Arial MT"/>
              </a:rPr>
              <a:t>Route,</a:t>
            </a:r>
            <a:r>
              <a:rPr sz="600" spc="500" dirty="0">
                <a:latin typeface="Arial MT"/>
                <a:cs typeface="Arial MT"/>
              </a:rPr>
              <a:t> </a:t>
            </a:r>
            <a:r>
              <a:rPr sz="600" spc="-20" dirty="0">
                <a:latin typeface="Arial MT"/>
                <a:cs typeface="Arial MT"/>
              </a:rPr>
              <a:t>Bus,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600" spc="-20" dirty="0">
                <a:latin typeface="Arial MT"/>
                <a:cs typeface="Arial MT"/>
              </a:rPr>
              <a:t>User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600" spc="90" dirty="0">
                <a:latin typeface="Arial MT"/>
                <a:cs typeface="Arial MT"/>
              </a:rPr>
              <a:t>+</a:t>
            </a:r>
            <a:r>
              <a:rPr sz="600" dirty="0">
                <a:latin typeface="Arial MT"/>
                <a:cs typeface="Arial MT"/>
              </a:rPr>
              <a:t>		Stu-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4402150" y="2331369"/>
            <a:ext cx="993775" cy="20510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700"/>
              </a:lnSpc>
              <a:spcBef>
                <a:spcPts val="135"/>
              </a:spcBef>
            </a:pPr>
            <a:r>
              <a:rPr sz="600" spc="-10" dirty="0">
                <a:latin typeface="Arial MT"/>
                <a:cs typeface="Arial MT"/>
              </a:rPr>
              <a:t>dent/Conductor/DeptHead).</a:t>
            </a:r>
            <a:r>
              <a:rPr sz="600" spc="50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[Blueprints]</a:t>
            </a:r>
            <a:endParaRPr sz="600" dirty="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766479" y="2508496"/>
            <a:ext cx="5067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Arial MT"/>
                <a:cs typeface="Arial MT"/>
              </a:rPr>
              <a:t>Gautam</a:t>
            </a:r>
            <a:r>
              <a:rPr sz="600" spc="-2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Singh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74489" y="2508496"/>
            <a:ext cx="33782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Arial MT"/>
                <a:cs typeface="Arial MT"/>
              </a:rPr>
              <a:t>Database</a:t>
            </a:r>
            <a:r>
              <a:rPr lang="en-US" sz="600" spc="-10" dirty="0">
                <a:latin typeface="Arial MT"/>
                <a:cs typeface="Arial MT"/>
              </a:rPr>
              <a:t>/Frontend</a:t>
            </a:r>
            <a:endParaRPr sz="600" dirty="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402185" y="2508496"/>
            <a:ext cx="10102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21640" algn="l"/>
                <a:tab pos="770890" algn="l"/>
              </a:tabLst>
            </a:pPr>
            <a:r>
              <a:rPr sz="600" spc="-10" dirty="0">
                <a:latin typeface="Arial MT"/>
                <a:cs typeface="Arial MT"/>
              </a:rPr>
              <a:t>MySQL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600" spc="-10" dirty="0">
                <a:latin typeface="Arial MT"/>
                <a:cs typeface="Arial MT"/>
              </a:rPr>
              <a:t>tables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600" spc="-10" dirty="0">
                <a:latin typeface="Arial MT"/>
                <a:cs typeface="Arial MT"/>
              </a:rPr>
              <a:t>(stops,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02150" y="2597066"/>
            <a:ext cx="1010919" cy="2940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700"/>
              </a:lnSpc>
              <a:spcBef>
                <a:spcPts val="135"/>
              </a:spcBef>
            </a:pPr>
            <a:r>
              <a:rPr sz="600" dirty="0">
                <a:latin typeface="Arial MT"/>
                <a:cs typeface="Arial MT"/>
              </a:rPr>
              <a:t>routes,</a:t>
            </a:r>
            <a:r>
              <a:rPr sz="600" spc="345" dirty="0">
                <a:latin typeface="Arial MT"/>
                <a:cs typeface="Arial MT"/>
              </a:rPr>
              <a:t>  </a:t>
            </a:r>
            <a:r>
              <a:rPr sz="600" dirty="0">
                <a:latin typeface="Arial MT"/>
                <a:cs typeface="Arial MT"/>
              </a:rPr>
              <a:t>ETAs)—C++</a:t>
            </a:r>
            <a:r>
              <a:rPr sz="600" spc="270" dirty="0">
                <a:latin typeface="Arial MT"/>
                <a:cs typeface="Arial MT"/>
              </a:rPr>
              <a:t>  </a:t>
            </a:r>
            <a:r>
              <a:rPr sz="600" spc="-25" dirty="0">
                <a:latin typeface="Arial MT"/>
                <a:cs typeface="Arial MT"/>
              </a:rPr>
              <a:t>to</a:t>
            </a:r>
            <a:r>
              <a:rPr sz="600" spc="50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MySQL</a:t>
            </a:r>
            <a:r>
              <a:rPr sz="600" spc="29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connection</a:t>
            </a:r>
            <a:r>
              <a:rPr sz="600" spc="295" dirty="0">
                <a:latin typeface="Arial MT"/>
                <a:cs typeface="Arial MT"/>
              </a:rPr>
              <a:t> </a:t>
            </a:r>
            <a:r>
              <a:rPr sz="600" spc="-20" dirty="0">
                <a:latin typeface="Arial MT"/>
                <a:cs typeface="Arial MT"/>
              </a:rPr>
              <a:t>code—</a:t>
            </a:r>
            <a:endParaRPr sz="600">
              <a:latin typeface="Arial MT"/>
              <a:cs typeface="Arial MT"/>
            </a:endParaRPr>
          </a:p>
          <a:p>
            <a:pPr marL="12700">
              <a:lnSpc>
                <a:spcPts val="675"/>
              </a:lnSpc>
            </a:pPr>
            <a:r>
              <a:rPr sz="600" spc="140" dirty="0">
                <a:latin typeface="Arial MT"/>
                <a:cs typeface="Arial MT"/>
              </a:rPr>
              <a:t>+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HTML/CSS/JS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779179" y="2919564"/>
            <a:ext cx="2621280" cy="0"/>
          </a:xfrm>
          <a:custGeom>
            <a:avLst/>
            <a:gdLst/>
            <a:ahLst/>
            <a:cxnLst/>
            <a:rect l="l" t="t" r="r" b="b"/>
            <a:pathLst>
              <a:path w="2621279">
                <a:moveTo>
                  <a:pt x="0" y="0"/>
                </a:moveTo>
                <a:lnTo>
                  <a:pt x="2620822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9</a:t>
            </a:fld>
            <a:r>
              <a:rPr spc="-10" dirty="0"/>
              <a:t>/10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5" dirty="0"/>
              <a:t>Roadmap,</a:t>
            </a:r>
            <a:r>
              <a:rPr spc="10" dirty="0"/>
              <a:t> </a:t>
            </a:r>
            <a:r>
              <a:rPr spc="-40" dirty="0"/>
              <a:t>Expected</a:t>
            </a:r>
            <a:r>
              <a:rPr spc="10" dirty="0"/>
              <a:t> </a:t>
            </a:r>
            <a:r>
              <a:rPr spc="-45" dirty="0"/>
              <a:t>Outcomes</a:t>
            </a:r>
            <a:r>
              <a:rPr spc="15" dirty="0"/>
              <a:t> </a:t>
            </a:r>
            <a:r>
              <a:rPr spc="85" dirty="0"/>
              <a:t>&amp;</a:t>
            </a:r>
            <a:r>
              <a:rPr spc="10" dirty="0"/>
              <a:t> </a:t>
            </a:r>
            <a:r>
              <a:rPr spc="-75" dirty="0"/>
              <a:t>References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pc="-10" dirty="0"/>
              <a:t>Roadmap</a:t>
            </a:r>
          </a:p>
          <a:p>
            <a:pPr marL="315595" indent="-177800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AutoNum type="arabicPeriod"/>
              <a:tabLst>
                <a:tab pos="315595" algn="l"/>
              </a:tabLst>
            </a:pPr>
            <a:r>
              <a:rPr b="0" spc="-65" dirty="0">
                <a:solidFill>
                  <a:srgbClr val="000000"/>
                </a:solidFill>
                <a:latin typeface="Tahoma"/>
                <a:cs typeface="Tahoma"/>
              </a:rPr>
              <a:t>Phase-</a:t>
            </a:r>
            <a:r>
              <a:rPr b="0" dirty="0">
                <a:solidFill>
                  <a:srgbClr val="000000"/>
                </a:solidFill>
                <a:latin typeface="Tahoma"/>
                <a:cs typeface="Tahoma"/>
              </a:rPr>
              <a:t>I:</a:t>
            </a:r>
            <a:r>
              <a:rPr b="0" spc="-1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b="0" spc="-20" dirty="0">
                <a:solidFill>
                  <a:srgbClr val="000000"/>
                </a:solidFill>
                <a:latin typeface="Tahoma"/>
                <a:cs typeface="Tahoma"/>
              </a:rPr>
              <a:t>Proposal</a:t>
            </a:r>
            <a:r>
              <a:rPr b="0" spc="-1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b="0" spc="85" dirty="0">
                <a:solidFill>
                  <a:srgbClr val="000000"/>
                </a:solidFill>
                <a:latin typeface="Tahoma"/>
                <a:cs typeface="Tahoma"/>
              </a:rPr>
              <a:t>&amp;</a:t>
            </a:r>
            <a:r>
              <a:rPr b="0" spc="-1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b="0" spc="-10" dirty="0">
                <a:solidFill>
                  <a:srgbClr val="000000"/>
                </a:solidFill>
                <a:latin typeface="Tahoma"/>
                <a:cs typeface="Tahoma"/>
              </a:rPr>
              <a:t>Design</a:t>
            </a:r>
          </a:p>
          <a:p>
            <a:pPr marL="315595" indent="-177800">
              <a:lnSpc>
                <a:spcPct val="100000"/>
              </a:lnSpc>
              <a:spcBef>
                <a:spcPts val="330"/>
              </a:spcBef>
              <a:buClr>
                <a:srgbClr val="133768"/>
              </a:buClr>
              <a:buAutoNum type="arabicPeriod"/>
              <a:tabLst>
                <a:tab pos="315595" algn="l"/>
              </a:tabLst>
            </a:pPr>
            <a:r>
              <a:rPr b="0" spc="-55" dirty="0">
                <a:solidFill>
                  <a:srgbClr val="000000"/>
                </a:solidFill>
                <a:latin typeface="Tahoma"/>
                <a:cs typeface="Tahoma"/>
              </a:rPr>
              <a:t>Phase-</a:t>
            </a:r>
            <a:r>
              <a:rPr b="0" spc="-50" dirty="0">
                <a:solidFill>
                  <a:srgbClr val="000000"/>
                </a:solidFill>
                <a:latin typeface="Tahoma"/>
                <a:cs typeface="Tahoma"/>
              </a:rPr>
              <a:t>II:</a:t>
            </a:r>
            <a:r>
              <a:rPr b="0" spc="-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b="0" spc="-10" dirty="0">
                <a:solidFill>
                  <a:srgbClr val="000000"/>
                </a:solidFill>
                <a:latin typeface="Tahoma"/>
                <a:cs typeface="Tahoma"/>
              </a:rPr>
              <a:t>Development</a:t>
            </a:r>
          </a:p>
          <a:p>
            <a:pPr marL="315595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AutoNum type="arabicPeriod"/>
              <a:tabLst>
                <a:tab pos="315595" algn="l"/>
              </a:tabLst>
            </a:pPr>
            <a:r>
              <a:rPr b="0" spc="-55" dirty="0">
                <a:solidFill>
                  <a:srgbClr val="000000"/>
                </a:solidFill>
                <a:latin typeface="Tahoma"/>
                <a:cs typeface="Tahoma"/>
              </a:rPr>
              <a:t>Phase-</a:t>
            </a:r>
            <a:r>
              <a:rPr b="0" spc="-65" dirty="0">
                <a:solidFill>
                  <a:srgbClr val="000000"/>
                </a:solidFill>
                <a:latin typeface="Tahoma"/>
                <a:cs typeface="Tahoma"/>
              </a:rPr>
              <a:t>III:</a:t>
            </a:r>
            <a:r>
              <a:rPr b="0" dirty="0">
                <a:solidFill>
                  <a:srgbClr val="000000"/>
                </a:solidFill>
                <a:latin typeface="Tahoma"/>
                <a:cs typeface="Tahoma"/>
              </a:rPr>
              <a:t> Final </a:t>
            </a:r>
            <a:r>
              <a:rPr b="0" spc="-10" dirty="0">
                <a:solidFill>
                  <a:srgbClr val="000000"/>
                </a:solidFill>
                <a:latin typeface="Tahoma"/>
                <a:cs typeface="Tahoma"/>
              </a:rPr>
              <a:t>Implementation</a:t>
            </a:r>
          </a:p>
          <a:p>
            <a:pPr marL="38100">
              <a:lnSpc>
                <a:spcPct val="100000"/>
              </a:lnSpc>
              <a:spcBef>
                <a:spcPts val="615"/>
              </a:spcBef>
            </a:pPr>
            <a:r>
              <a:rPr spc="-50" dirty="0"/>
              <a:t>Expected</a:t>
            </a:r>
            <a:r>
              <a:rPr spc="-10" dirty="0"/>
              <a:t> Outcomes</a:t>
            </a:r>
          </a:p>
          <a:p>
            <a:pPr marL="312420" marR="447040" lvl="1" indent="-146050">
              <a:lnSpc>
                <a:spcPts val="950"/>
              </a:lnSpc>
              <a:spcBef>
                <a:spcPts val="26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800" dirty="0">
                <a:latin typeface="Arial MT"/>
                <a:cs typeface="Arial MT"/>
              </a:rPr>
              <a:t>Working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prototype:</a:t>
            </a:r>
            <a:r>
              <a:rPr sz="800" spc="1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3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spc="-30" dirty="0">
                <a:latin typeface="Arial MT"/>
                <a:cs typeface="Arial MT"/>
              </a:rPr>
              <a:t>dashboards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spc="130" dirty="0">
                <a:latin typeface="Arial MT"/>
                <a:cs typeface="Arial MT"/>
              </a:rPr>
              <a:t>+ 	</a:t>
            </a:r>
            <a:r>
              <a:rPr sz="800" spc="55" dirty="0">
                <a:latin typeface="Arial MT"/>
                <a:cs typeface="Arial MT"/>
              </a:rPr>
              <a:t>C++/MySQL</a:t>
            </a:r>
            <a:r>
              <a:rPr sz="800" spc="9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backend</a:t>
            </a:r>
            <a:endParaRPr sz="800">
              <a:latin typeface="Arial MT"/>
              <a:cs typeface="Arial MT"/>
            </a:endParaRPr>
          </a:p>
          <a:p>
            <a:pPr marL="312420" marR="96520" lvl="1" indent="-146050">
              <a:lnSpc>
                <a:spcPts val="950"/>
              </a:lnSpc>
              <a:spcBef>
                <a:spcPts val="4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800" dirty="0">
                <a:latin typeface="Arial MT"/>
                <a:cs typeface="Arial MT"/>
              </a:rPr>
              <a:t>Correct</a:t>
            </a:r>
            <a:r>
              <a:rPr sz="800" spc="10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color-</a:t>
            </a:r>
            <a:r>
              <a:rPr sz="800" dirty="0">
                <a:latin typeface="Arial MT"/>
                <a:cs typeface="Arial MT"/>
              </a:rPr>
              <a:t>coded</a:t>
            </a:r>
            <a:r>
              <a:rPr sz="800" spc="1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status</a:t>
            </a:r>
            <a:r>
              <a:rPr sz="800" spc="1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shown</a:t>
            </a:r>
            <a:r>
              <a:rPr sz="800" spc="1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live</a:t>
            </a:r>
            <a:r>
              <a:rPr sz="800" spc="1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in</a:t>
            </a:r>
            <a:r>
              <a:rPr sz="800" spc="15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the</a:t>
            </a:r>
            <a:r>
              <a:rPr sz="800" dirty="0">
                <a:latin typeface="Arial MT"/>
                <a:cs typeface="Arial MT"/>
              </a:rPr>
              <a:t> 	final</a:t>
            </a:r>
            <a:r>
              <a:rPr sz="800" spc="70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demo</a:t>
            </a:r>
            <a:endParaRPr sz="800">
              <a:latin typeface="Arial MT"/>
              <a:cs typeface="Arial MT"/>
            </a:endParaRPr>
          </a:p>
          <a:p>
            <a:pPr marL="313055" lvl="1" indent="-146050">
              <a:lnSpc>
                <a:spcPct val="100000"/>
              </a:lnSpc>
              <a:buClr>
                <a:srgbClr val="133768"/>
              </a:buClr>
              <a:buFont typeface="Lucida Sans Unicode"/>
              <a:buChar char="►"/>
              <a:tabLst>
                <a:tab pos="313055" algn="l"/>
              </a:tabLst>
            </a:pPr>
            <a:r>
              <a:rPr sz="800" spc="-20" dirty="0">
                <a:latin typeface="Arial MT"/>
                <a:cs typeface="Arial MT"/>
              </a:rPr>
              <a:t>Usable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by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college’s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transport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department</a:t>
            </a:r>
            <a:endParaRPr sz="800">
              <a:latin typeface="Arial MT"/>
              <a:cs typeface="Arial MT"/>
            </a:endParaRPr>
          </a:p>
          <a:p>
            <a:pPr marL="313055" lvl="1" indent="-146050">
              <a:lnSpc>
                <a:spcPct val="100000"/>
              </a:lnSpc>
              <a:spcBef>
                <a:spcPts val="40"/>
              </a:spcBef>
              <a:buClr>
                <a:srgbClr val="133768"/>
              </a:buClr>
              <a:buFont typeface="Lucida Sans Unicode"/>
              <a:buChar char="►"/>
              <a:tabLst>
                <a:tab pos="313055" algn="l"/>
              </a:tabLst>
            </a:pPr>
            <a:r>
              <a:rPr sz="800" dirty="0">
                <a:latin typeface="Arial MT"/>
                <a:cs typeface="Arial MT"/>
              </a:rPr>
              <a:t>Future </a:t>
            </a:r>
            <a:r>
              <a:rPr sz="800" spc="-20" dirty="0">
                <a:latin typeface="Arial MT"/>
                <a:cs typeface="Arial MT"/>
              </a:rPr>
              <a:t>scope:</a:t>
            </a:r>
            <a:r>
              <a:rPr sz="800" spc="8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more </a:t>
            </a:r>
            <a:r>
              <a:rPr sz="800" spc="-10" dirty="0">
                <a:latin typeface="Arial MT"/>
                <a:cs typeface="Arial MT"/>
              </a:rPr>
              <a:t>buses/routes,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mobile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app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10</a:t>
            </a:fld>
            <a:r>
              <a:rPr spc="-10" dirty="0"/>
              <a:t>/10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018497" y="914664"/>
            <a:ext cx="2395220" cy="159194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b="1" spc="-10" dirty="0">
                <a:solidFill>
                  <a:srgbClr val="133768"/>
                </a:solidFill>
                <a:latin typeface="Tahoma"/>
                <a:cs typeface="Tahoma"/>
              </a:rPr>
              <a:t>References</a:t>
            </a:r>
            <a:endParaRPr sz="1100">
              <a:latin typeface="Tahoma"/>
              <a:cs typeface="Tahoma"/>
            </a:endParaRPr>
          </a:p>
          <a:p>
            <a:pPr marL="289560" marR="30480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Tahoma"/>
              <a:buAutoNum type="arabicPeriod"/>
              <a:tabLst>
                <a:tab pos="289560" algn="l"/>
              </a:tabLst>
            </a:pPr>
            <a:r>
              <a:rPr sz="1100" i="1" spc="-25" dirty="0">
                <a:solidFill>
                  <a:srgbClr val="595959"/>
                </a:solidFill>
                <a:latin typeface="Arial"/>
                <a:cs typeface="Arial"/>
              </a:rPr>
              <a:t>MySQL</a:t>
            </a:r>
            <a:r>
              <a:rPr sz="1100" i="1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595959"/>
                </a:solidFill>
                <a:latin typeface="Arial"/>
                <a:cs typeface="Arial"/>
              </a:rPr>
              <a:t>Connector/C++</a:t>
            </a:r>
            <a:r>
              <a:rPr sz="1100" i="1" spc="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55" dirty="0">
                <a:solidFill>
                  <a:srgbClr val="595959"/>
                </a:solidFill>
                <a:latin typeface="Arial"/>
                <a:cs typeface="Arial"/>
              </a:rPr>
              <a:t>Developer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Guide</a:t>
            </a:r>
            <a:endParaRPr sz="1100">
              <a:latin typeface="Arial"/>
              <a:cs typeface="Arial"/>
            </a:endParaRPr>
          </a:p>
          <a:p>
            <a:pPr marL="289560" marR="5080" indent="-177165">
              <a:lnSpc>
                <a:spcPct val="102699"/>
              </a:lnSpc>
              <a:spcBef>
                <a:spcPts val="295"/>
              </a:spcBef>
              <a:buClr>
                <a:srgbClr val="133768"/>
              </a:buClr>
              <a:buFont typeface="Tahoma"/>
              <a:buAutoNum type="arabicPeriod"/>
              <a:tabLst>
                <a:tab pos="289560" algn="l"/>
              </a:tabLst>
            </a:pPr>
            <a:r>
              <a:rPr sz="1100" i="1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100" i="1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100" dirty="0">
                <a:solidFill>
                  <a:srgbClr val="595959"/>
                </a:solidFill>
                <a:latin typeface="Arial"/>
                <a:cs typeface="Arial"/>
              </a:rPr>
              <a:t>C++</a:t>
            </a:r>
            <a:r>
              <a:rPr sz="1100" i="1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40" dirty="0">
                <a:solidFill>
                  <a:srgbClr val="595959"/>
                </a:solidFill>
                <a:latin typeface="Arial"/>
                <a:cs typeface="Arial"/>
              </a:rPr>
              <a:t>Programming</a:t>
            </a:r>
            <a:r>
              <a:rPr sz="1100" i="1" spc="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Language Fourth</a:t>
            </a:r>
            <a:r>
              <a:rPr sz="1100" i="1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Edition</a:t>
            </a:r>
            <a:r>
              <a:rPr sz="1100" i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by</a:t>
            </a:r>
            <a:r>
              <a:rPr sz="1100" i="1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30" dirty="0">
                <a:solidFill>
                  <a:srgbClr val="595959"/>
                </a:solidFill>
                <a:latin typeface="Arial"/>
                <a:cs typeface="Arial"/>
              </a:rPr>
              <a:t>Bjarne</a:t>
            </a:r>
            <a:r>
              <a:rPr sz="1100" i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25" dirty="0">
                <a:solidFill>
                  <a:srgbClr val="595959"/>
                </a:solidFill>
                <a:latin typeface="Arial"/>
                <a:cs typeface="Arial"/>
              </a:rPr>
              <a:t>Stroustrup</a:t>
            </a:r>
            <a:endParaRPr sz="1100">
              <a:latin typeface="Arial"/>
              <a:cs typeface="Arial"/>
            </a:endParaRPr>
          </a:p>
          <a:p>
            <a:pPr marL="290195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sz="1100" i="1" spc="-35" dirty="0">
                <a:solidFill>
                  <a:srgbClr val="595959"/>
                </a:solidFill>
                <a:latin typeface="Arial"/>
                <a:cs typeface="Arial"/>
              </a:rPr>
              <a:t>”cppreference.com”</a:t>
            </a:r>
            <a:r>
              <a:rPr sz="1100" i="1" spc="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100" dirty="0">
                <a:solidFill>
                  <a:srgbClr val="595959"/>
                </a:solidFill>
                <a:latin typeface="Arial"/>
                <a:cs typeface="Arial"/>
              </a:rPr>
              <a:t>C++</a:t>
            </a:r>
            <a:r>
              <a:rPr sz="1100" i="1" spc="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25" dirty="0">
                <a:solidFill>
                  <a:srgbClr val="595959"/>
                </a:solidFill>
                <a:latin typeface="Arial"/>
                <a:cs typeface="Arial"/>
              </a:rPr>
              <a:t>STL</a:t>
            </a:r>
            <a:endParaRPr sz="1100">
              <a:latin typeface="Arial"/>
              <a:cs typeface="Arial"/>
            </a:endParaRPr>
          </a:p>
          <a:p>
            <a:pPr marL="289560" marR="11430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Tahoma"/>
              <a:buAutoNum type="arabicPeriod"/>
              <a:tabLst>
                <a:tab pos="289560" algn="l"/>
              </a:tabLst>
            </a:pPr>
            <a:r>
              <a:rPr sz="1100" i="1" spc="-55" dirty="0">
                <a:solidFill>
                  <a:srgbClr val="595959"/>
                </a:solidFill>
                <a:latin typeface="Arial"/>
                <a:cs typeface="Arial"/>
              </a:rPr>
              <a:t>Crow</a:t>
            </a:r>
            <a:r>
              <a:rPr sz="1100" i="1" spc="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100" dirty="0">
                <a:solidFill>
                  <a:srgbClr val="595959"/>
                </a:solidFill>
                <a:latin typeface="Arial"/>
                <a:cs typeface="Arial"/>
              </a:rPr>
              <a:t>C++</a:t>
            </a:r>
            <a:r>
              <a:rPr sz="1100" i="1" spc="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Microframework </a:t>
            </a:r>
            <a:r>
              <a:rPr sz="1100" i="1" spc="-40" dirty="0">
                <a:solidFill>
                  <a:srgbClr val="595959"/>
                </a:solidFill>
                <a:latin typeface="Arial"/>
                <a:cs typeface="Arial"/>
              </a:rPr>
              <a:t>Documentation(crowframework.org)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53803" y="2665158"/>
            <a:ext cx="1924050" cy="371475"/>
          </a:xfrm>
          <a:prstGeom prst="rect">
            <a:avLst/>
          </a:prstGeom>
          <a:solidFill>
            <a:srgbClr val="13376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75"/>
              </a:lnSpc>
            </a:pPr>
            <a:r>
              <a:rPr sz="1100" b="1" spc="-25" dirty="0">
                <a:solidFill>
                  <a:srgbClr val="FFFFFF"/>
                </a:solidFill>
                <a:latin typeface="Tahoma"/>
                <a:cs typeface="Tahoma"/>
              </a:rPr>
              <a:t>Thank</a:t>
            </a:r>
            <a:r>
              <a:rPr sz="1100" b="1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b="1" spc="-25" dirty="0">
                <a:solidFill>
                  <a:srgbClr val="FFFFFF"/>
                </a:solidFill>
                <a:latin typeface="Tahoma"/>
                <a:cs typeface="Tahoma"/>
              </a:rPr>
              <a:t>You</a:t>
            </a:r>
            <a:endParaRPr sz="1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Questions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85" dirty="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Suggestions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259</TotalTime>
  <Words>1247</Words>
  <Application>Microsoft Office PowerPoint</Application>
  <PresentationFormat>Custom</PresentationFormat>
  <Paragraphs>167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Arial MT</vt:lpstr>
      <vt:lpstr>Calibri</vt:lpstr>
      <vt:lpstr>Lucida Sans Unicode</vt:lpstr>
      <vt:lpstr>Tahoma</vt:lpstr>
      <vt:lpstr>Trebuchet MS</vt:lpstr>
      <vt:lpstr>Office Theme</vt:lpstr>
      <vt:lpstr>PROJECT-BASED LEARNING</vt:lpstr>
      <vt:lpstr>Team &amp; Mentor Details</vt:lpstr>
      <vt:lpstr>Problem Statement &amp; Motivation</vt:lpstr>
      <vt:lpstr>Objectives</vt:lpstr>
      <vt:lpstr>Proposed Solution</vt:lpstr>
      <vt:lpstr>Integration of PBL Course Concepts</vt:lpstr>
      <vt:lpstr>System Architecture / Workflow</vt:lpstr>
      <vt:lpstr>Technology Stack &amp; Methodology</vt:lpstr>
      <vt:lpstr>Initial Progress &amp; Team Contribution</vt:lpstr>
      <vt:lpstr>Roadmap, Expected Outcomes &amp;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Project-Based Learning [2mm]Phase-I Evaluation</dc:title>
  <dc:creator>Where's My BusTeam ID: DSCPP-III-2026-T007 (``Null Pointer'')</dc:creator>
  <cp:lastModifiedBy>Dell S</cp:lastModifiedBy>
  <cp:revision>3</cp:revision>
  <dcterms:created xsi:type="dcterms:W3CDTF">2026-09-09T17:35:37Z</dcterms:created>
  <dcterms:modified xsi:type="dcterms:W3CDTF">2026-09-10T12:07:04Z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2026-09-09T00:00:00Z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2026-09-09T00:00:00Z</vt:filetime>
  </property>
  <property fmtid="{D5CDD505-2E9C-101B-9397-08002B2CF9AE}" pid="6" name="PTEX.Fullbanner">
    <vt:lpwstr>This is pdfTeX, Version 3.141592653-2.6-1.40.29 (TeX Live 2026) kpathsea version 6.4.2</vt:lpwstr>
  </property>
  <property fmtid="{D5CDD505-2E9C-101B-9397-08002B2CF9AE}" pid="7" name="Producer">
    <vt:lpwstr>pdfTeX-1.40.29</vt:lpwstr>
  </property>
</Properties>
</file>